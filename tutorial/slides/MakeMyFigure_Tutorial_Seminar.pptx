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10972800" cy="8229600" type="B4JIS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1pPr>
    <a:lvl2pPr marL="65311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2pPr>
    <a:lvl3pPr marL="130622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3pPr>
    <a:lvl4pPr marL="195933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4pPr>
    <a:lvl5pPr marL="261244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5pPr>
    <a:lvl6pPr marL="3265551" algn="l" defTabSz="653110" rtl="0" eaLnBrk="1" latinLnBrk="0" hangingPunct="1"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6pPr>
    <a:lvl7pPr marL="3918661" algn="l" defTabSz="653110" rtl="0" eaLnBrk="1" latinLnBrk="0" hangingPunct="1"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7pPr>
    <a:lvl8pPr marL="4571771" algn="l" defTabSz="653110" rtl="0" eaLnBrk="1" latinLnBrk="0" hangingPunct="1"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8pPr>
    <a:lvl9pPr marL="5224882" algn="l" defTabSz="653110" rtl="0" eaLnBrk="1" latinLnBrk="0" hangingPunct="1">
      <a:defRPr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325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1638"/>
    <a:srgbClr val="FBD140"/>
    <a:srgbClr val="EBEBEB"/>
    <a:srgbClr val="E8E8E8"/>
    <a:srgbClr val="A30234"/>
    <a:srgbClr val="E5DBD6"/>
    <a:srgbClr val="76BEC6"/>
    <a:srgbClr val="D9EFFF"/>
    <a:srgbClr val="C10F3A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1" autoAdjust="0"/>
    <p:restoredTop sz="64935" autoAdjust="0"/>
  </p:normalViewPr>
  <p:slideViewPr>
    <p:cSldViewPr snapToGrid="0">
      <p:cViewPr>
        <p:scale>
          <a:sx n="100" d="100"/>
          <a:sy n="100" d="100"/>
        </p:scale>
        <p:origin x="600" y="408"/>
      </p:cViewPr>
      <p:guideLst>
        <p:guide orient="horz" pos="1325"/>
        <p:guide pos="5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102"/>
    </p:cViewPr>
  </p:sorterViewPr>
  <p:notesViewPr>
    <p:cSldViewPr snapToGrid="0">
      <p:cViewPr varScale="1">
        <p:scale>
          <a:sx n="66" d="100"/>
          <a:sy n="66" d="100"/>
        </p:scale>
        <p:origin x="-3106" y="-77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43979" cy="465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7531" y="1"/>
            <a:ext cx="3043979" cy="465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FF3A3-17C9-1240-B94F-FCB10E11BFA2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2384"/>
            <a:ext cx="3043979" cy="4651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531" y="8842384"/>
            <a:ext cx="3043979" cy="4651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63DA2-9EFE-404A-BC7F-D2149F0832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16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3043979" cy="46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16" tIns="46808" rIns="93616" bIns="46808" numCol="1" anchor="t" anchorCtr="0" compatLnSpc="1">
            <a:prstTxWarp prst="textNoShape">
              <a:avLst/>
            </a:prstTxWarp>
          </a:bodyPr>
          <a:lstStyle>
            <a:lvl1pPr defTabSz="936625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7531" y="1"/>
            <a:ext cx="3043979" cy="46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16" tIns="46808" rIns="93616" bIns="46808" numCol="1" anchor="t" anchorCtr="0" compatLnSpc="1">
            <a:prstTxWarp prst="textNoShape">
              <a:avLst/>
            </a:prstTxWarp>
          </a:bodyPr>
          <a:lstStyle>
            <a:lvl1pPr algn="r" defTabSz="936625">
              <a:defRPr sz="1200"/>
            </a:lvl1pPr>
          </a:lstStyle>
          <a:p>
            <a:fld id="{F1386A7A-B598-E248-8A09-616560145B06}" type="datetime1">
              <a:rPr lang="en-US"/>
              <a:pPr/>
              <a:t>3/17/26</a:t>
            </a:fld>
            <a:endParaRPr lang="en-US"/>
          </a:p>
        </p:txBody>
      </p:sp>
      <p:sp>
        <p:nvSpPr>
          <p:cNvPr id="819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2946" y="4421192"/>
            <a:ext cx="5617208" cy="418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16" tIns="46808" rIns="93616" bIns="468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42384"/>
            <a:ext cx="3043979" cy="46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16" tIns="46808" rIns="93616" bIns="46808" numCol="1" anchor="b" anchorCtr="0" compatLnSpc="1">
            <a:prstTxWarp prst="textNoShape">
              <a:avLst/>
            </a:prstTxWarp>
          </a:bodyPr>
          <a:lstStyle>
            <a:lvl1pPr defTabSz="936625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7531" y="8842384"/>
            <a:ext cx="3043979" cy="465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16" tIns="46808" rIns="93616" bIns="46808" numCol="1" anchor="b" anchorCtr="0" compatLnSpc="1">
            <a:prstTxWarp prst="textNoShape">
              <a:avLst/>
            </a:prstTxWarp>
          </a:bodyPr>
          <a:lstStyle>
            <a:lvl1pPr algn="r" defTabSz="936625">
              <a:defRPr sz="1200"/>
            </a:lvl1pPr>
          </a:lstStyle>
          <a:p>
            <a:fld id="{608BE082-D1A3-464C-8087-43061B6101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689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653110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653110" algn="l" defTabSz="653110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1306220" algn="l" defTabSz="653110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959331" algn="l" defTabSz="653110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2612441" algn="l" defTabSz="653110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B9C628EB-F2F1-B048-8CDF-BD9799727F8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676400"/>
            <a:ext cx="10241280" cy="5943600"/>
          </a:xfrm>
        </p:spPr>
        <p:txBody>
          <a:bodyPr/>
          <a:lstStyle>
            <a:lvl1pPr marL="97967" indent="0"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30622" indent="0"/>
            <a:r>
              <a:rPr lang="en-US" dirty="0"/>
              <a:t> Slide text here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A23BCC5-EED1-1B45-AB9D-6C9518CB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0" y="518160"/>
            <a:ext cx="8915400" cy="853440"/>
          </a:xfrm>
        </p:spPr>
        <p:txBody>
          <a:bodyPr/>
          <a:lstStyle>
            <a:lvl1pPr>
              <a:defRPr sz="2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_Gradient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5C70E5-CBD7-9358-0214-2EA4808CC1D5}"/>
              </a:ext>
            </a:extLst>
          </p:cNvPr>
          <p:cNvGrpSpPr/>
          <p:nvPr userDrawn="1"/>
        </p:nvGrpSpPr>
        <p:grpSpPr>
          <a:xfrm>
            <a:off x="-882" y="0"/>
            <a:ext cx="10981592" cy="8234843"/>
            <a:chOff x="-981" y="-1"/>
            <a:chExt cx="12201769" cy="68623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BEF8962-1B52-B635-C251-3CE959266199}"/>
                </a:ext>
              </a:extLst>
            </p:cNvPr>
            <p:cNvSpPr/>
            <p:nvPr userDrawn="1"/>
          </p:nvSpPr>
          <p:spPr>
            <a:xfrm rot="16200000" flipH="1">
              <a:off x="5090159" y="-5090160"/>
              <a:ext cx="2011680" cy="12191997"/>
            </a:xfrm>
            <a:prstGeom prst="rect">
              <a:avLst/>
            </a:prstGeom>
            <a:gradFill>
              <a:gsLst>
                <a:gs pos="80000">
                  <a:schemeClr val="accent1"/>
                </a:gs>
                <a:gs pos="10000">
                  <a:schemeClr val="accent6"/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Delay 7">
              <a:extLst>
                <a:ext uri="{FF2B5EF4-FFF2-40B4-BE49-F238E27FC236}">
                  <a16:creationId xmlns:a16="http://schemas.microsoft.com/office/drawing/2014/main" id="{EBCA7C79-C2A5-5AC7-3AA9-F70E72B865DC}"/>
                </a:ext>
              </a:extLst>
            </p:cNvPr>
            <p:cNvSpPr/>
            <p:nvPr userDrawn="1"/>
          </p:nvSpPr>
          <p:spPr>
            <a:xfrm rot="5400000" flipH="1">
              <a:off x="3274507" y="-2063914"/>
              <a:ext cx="5650794" cy="12201769"/>
            </a:xfrm>
            <a:custGeom>
              <a:avLst/>
              <a:gdLst>
                <a:gd name="connsiteX0" fmla="*/ 0 w 8248649"/>
                <a:gd name="connsiteY0" fmla="*/ 0 h 6858003"/>
                <a:gd name="connsiteX1" fmla="*/ 4124325 w 8248649"/>
                <a:gd name="connsiteY1" fmla="*/ 0 h 6858003"/>
                <a:gd name="connsiteX2" fmla="*/ 8248650 w 8248649"/>
                <a:gd name="connsiteY2" fmla="*/ 3429002 h 6858003"/>
                <a:gd name="connsiteX3" fmla="*/ 4124325 w 8248649"/>
                <a:gd name="connsiteY3" fmla="*/ 6858004 h 6858003"/>
                <a:gd name="connsiteX4" fmla="*/ 0 w 8248649"/>
                <a:gd name="connsiteY4" fmla="*/ 6858003 h 6858003"/>
                <a:gd name="connsiteX5" fmla="*/ 0 w 8248649"/>
                <a:gd name="connsiteY5" fmla="*/ 0 h 6858003"/>
                <a:gd name="connsiteX0" fmla="*/ 0 w 8509944"/>
                <a:gd name="connsiteY0" fmla="*/ 0 h 6858004"/>
                <a:gd name="connsiteX1" fmla="*/ 6596062 w 8509944"/>
                <a:gd name="connsiteY1" fmla="*/ 0 h 6858004"/>
                <a:gd name="connsiteX2" fmla="*/ 8248650 w 8509944"/>
                <a:gd name="connsiteY2" fmla="*/ 3429002 h 6858004"/>
                <a:gd name="connsiteX3" fmla="*/ 4124325 w 8509944"/>
                <a:gd name="connsiteY3" fmla="*/ 6858004 h 6858004"/>
                <a:gd name="connsiteX4" fmla="*/ 0 w 8509944"/>
                <a:gd name="connsiteY4" fmla="*/ 6858003 h 6858004"/>
                <a:gd name="connsiteX5" fmla="*/ 0 w 8509944"/>
                <a:gd name="connsiteY5" fmla="*/ 0 h 6858004"/>
                <a:gd name="connsiteX0" fmla="*/ 0 w 8742579"/>
                <a:gd name="connsiteY0" fmla="*/ 0 h 6858003"/>
                <a:gd name="connsiteX1" fmla="*/ 6596062 w 8742579"/>
                <a:gd name="connsiteY1" fmla="*/ 0 h 6858003"/>
                <a:gd name="connsiteX2" fmla="*/ 8248650 w 8742579"/>
                <a:gd name="connsiteY2" fmla="*/ 3429002 h 6858003"/>
                <a:gd name="connsiteX3" fmla="*/ 7410450 w 8742579"/>
                <a:gd name="connsiteY3" fmla="*/ 6843716 h 6858003"/>
                <a:gd name="connsiteX4" fmla="*/ 0 w 8742579"/>
                <a:gd name="connsiteY4" fmla="*/ 6858003 h 6858003"/>
                <a:gd name="connsiteX5" fmla="*/ 0 w 8742579"/>
                <a:gd name="connsiteY5" fmla="*/ 0 h 6858003"/>
                <a:gd name="connsiteX0" fmla="*/ 0 w 8267077"/>
                <a:gd name="connsiteY0" fmla="*/ 0 h 6858003"/>
                <a:gd name="connsiteX1" fmla="*/ 6596062 w 8267077"/>
                <a:gd name="connsiteY1" fmla="*/ 0 h 6858003"/>
                <a:gd name="connsiteX2" fmla="*/ 8248650 w 8267077"/>
                <a:gd name="connsiteY2" fmla="*/ 3429002 h 6858003"/>
                <a:gd name="connsiteX3" fmla="*/ 7410450 w 8267077"/>
                <a:gd name="connsiteY3" fmla="*/ 6843716 h 6858003"/>
                <a:gd name="connsiteX4" fmla="*/ 0 w 8267077"/>
                <a:gd name="connsiteY4" fmla="*/ 6858003 h 6858003"/>
                <a:gd name="connsiteX5" fmla="*/ 0 w 8267077"/>
                <a:gd name="connsiteY5" fmla="*/ 0 h 6858003"/>
                <a:gd name="connsiteX0" fmla="*/ 0 w 8262050"/>
                <a:gd name="connsiteY0" fmla="*/ 0 h 6858003"/>
                <a:gd name="connsiteX1" fmla="*/ 6596062 w 8262050"/>
                <a:gd name="connsiteY1" fmla="*/ 0 h 6858003"/>
                <a:gd name="connsiteX2" fmla="*/ 8248650 w 8262050"/>
                <a:gd name="connsiteY2" fmla="*/ 3429002 h 6858003"/>
                <a:gd name="connsiteX3" fmla="*/ 7410450 w 8262050"/>
                <a:gd name="connsiteY3" fmla="*/ 6843716 h 6858003"/>
                <a:gd name="connsiteX4" fmla="*/ 0 w 8262050"/>
                <a:gd name="connsiteY4" fmla="*/ 6858003 h 6858003"/>
                <a:gd name="connsiteX5" fmla="*/ 0 w 8262050"/>
                <a:gd name="connsiteY5" fmla="*/ 0 h 6858003"/>
                <a:gd name="connsiteX0" fmla="*/ 0 w 8262050"/>
                <a:gd name="connsiteY0" fmla="*/ 0 h 6858003"/>
                <a:gd name="connsiteX1" fmla="*/ 6596062 w 8262050"/>
                <a:gd name="connsiteY1" fmla="*/ 0 h 6858003"/>
                <a:gd name="connsiteX2" fmla="*/ 8248650 w 8262050"/>
                <a:gd name="connsiteY2" fmla="*/ 3429002 h 6858003"/>
                <a:gd name="connsiteX3" fmla="*/ 7410450 w 8262050"/>
                <a:gd name="connsiteY3" fmla="*/ 6843716 h 6858003"/>
                <a:gd name="connsiteX4" fmla="*/ 0 w 8262050"/>
                <a:gd name="connsiteY4" fmla="*/ 6858003 h 6858003"/>
                <a:gd name="connsiteX5" fmla="*/ 0 w 8262050"/>
                <a:gd name="connsiteY5" fmla="*/ 0 h 6858003"/>
                <a:gd name="connsiteX0" fmla="*/ 0 w 8267413"/>
                <a:gd name="connsiteY0" fmla="*/ 0 h 6858003"/>
                <a:gd name="connsiteX1" fmla="*/ 6596062 w 8267413"/>
                <a:gd name="connsiteY1" fmla="*/ 0 h 6858003"/>
                <a:gd name="connsiteX2" fmla="*/ 8248650 w 8267413"/>
                <a:gd name="connsiteY2" fmla="*/ 3429002 h 6858003"/>
                <a:gd name="connsiteX3" fmla="*/ 7410450 w 8267413"/>
                <a:gd name="connsiteY3" fmla="*/ 6843716 h 6858003"/>
                <a:gd name="connsiteX4" fmla="*/ 0 w 8267413"/>
                <a:gd name="connsiteY4" fmla="*/ 6858003 h 6858003"/>
                <a:gd name="connsiteX5" fmla="*/ 0 w 8267413"/>
                <a:gd name="connsiteY5" fmla="*/ 0 h 6858003"/>
                <a:gd name="connsiteX0" fmla="*/ 0 w 8266010"/>
                <a:gd name="connsiteY0" fmla="*/ 14288 h 6872291"/>
                <a:gd name="connsiteX1" fmla="*/ 6467474 w 8266010"/>
                <a:gd name="connsiteY1" fmla="*/ 0 h 6872291"/>
                <a:gd name="connsiteX2" fmla="*/ 8248650 w 8266010"/>
                <a:gd name="connsiteY2" fmla="*/ 3443290 h 6872291"/>
                <a:gd name="connsiteX3" fmla="*/ 7410450 w 8266010"/>
                <a:gd name="connsiteY3" fmla="*/ 6858004 h 6872291"/>
                <a:gd name="connsiteX4" fmla="*/ 0 w 8266010"/>
                <a:gd name="connsiteY4" fmla="*/ 6872291 h 6872291"/>
                <a:gd name="connsiteX5" fmla="*/ 0 w 8266010"/>
                <a:gd name="connsiteY5" fmla="*/ 14288 h 6872291"/>
                <a:gd name="connsiteX0" fmla="*/ 0 w 8262897"/>
                <a:gd name="connsiteY0" fmla="*/ 0 h 6858003"/>
                <a:gd name="connsiteX1" fmla="*/ 6567486 w 8262897"/>
                <a:gd name="connsiteY1" fmla="*/ 0 h 6858003"/>
                <a:gd name="connsiteX2" fmla="*/ 8248650 w 8262897"/>
                <a:gd name="connsiteY2" fmla="*/ 3429002 h 6858003"/>
                <a:gd name="connsiteX3" fmla="*/ 7410450 w 8262897"/>
                <a:gd name="connsiteY3" fmla="*/ 6843716 h 6858003"/>
                <a:gd name="connsiteX4" fmla="*/ 0 w 8262897"/>
                <a:gd name="connsiteY4" fmla="*/ 6858003 h 6858003"/>
                <a:gd name="connsiteX5" fmla="*/ 0 w 8262897"/>
                <a:gd name="connsiteY5" fmla="*/ 0 h 6858003"/>
                <a:gd name="connsiteX0" fmla="*/ 0 w 8277713"/>
                <a:gd name="connsiteY0" fmla="*/ 0 h 6858003"/>
                <a:gd name="connsiteX1" fmla="*/ 6567486 w 8277713"/>
                <a:gd name="connsiteY1" fmla="*/ 0 h 6858003"/>
                <a:gd name="connsiteX2" fmla="*/ 8248650 w 8277713"/>
                <a:gd name="connsiteY2" fmla="*/ 3429002 h 6858003"/>
                <a:gd name="connsiteX3" fmla="*/ 7410450 w 8277713"/>
                <a:gd name="connsiteY3" fmla="*/ 6843716 h 6858003"/>
                <a:gd name="connsiteX4" fmla="*/ 0 w 8277713"/>
                <a:gd name="connsiteY4" fmla="*/ 6858003 h 6858003"/>
                <a:gd name="connsiteX5" fmla="*/ 0 w 8277713"/>
                <a:gd name="connsiteY5" fmla="*/ 0 h 6858003"/>
                <a:gd name="connsiteX0" fmla="*/ 0 w 8263787"/>
                <a:gd name="connsiteY0" fmla="*/ 0 h 6858003"/>
                <a:gd name="connsiteX1" fmla="*/ 6567486 w 8263787"/>
                <a:gd name="connsiteY1" fmla="*/ 0 h 6858003"/>
                <a:gd name="connsiteX2" fmla="*/ 8234362 w 8263787"/>
                <a:gd name="connsiteY2" fmla="*/ 3271840 h 6858003"/>
                <a:gd name="connsiteX3" fmla="*/ 7410450 w 8263787"/>
                <a:gd name="connsiteY3" fmla="*/ 6843716 h 6858003"/>
                <a:gd name="connsiteX4" fmla="*/ 0 w 8263787"/>
                <a:gd name="connsiteY4" fmla="*/ 6858003 h 6858003"/>
                <a:gd name="connsiteX5" fmla="*/ 0 w 8263787"/>
                <a:gd name="connsiteY5" fmla="*/ 0 h 6858003"/>
                <a:gd name="connsiteX0" fmla="*/ 0 w 8257351"/>
                <a:gd name="connsiteY0" fmla="*/ 0 h 6858003"/>
                <a:gd name="connsiteX1" fmla="*/ 6567486 w 8257351"/>
                <a:gd name="connsiteY1" fmla="*/ 0 h 6858003"/>
                <a:gd name="connsiteX2" fmla="*/ 8234362 w 8257351"/>
                <a:gd name="connsiteY2" fmla="*/ 3271840 h 6858003"/>
                <a:gd name="connsiteX3" fmla="*/ 7410450 w 8257351"/>
                <a:gd name="connsiteY3" fmla="*/ 6843716 h 6858003"/>
                <a:gd name="connsiteX4" fmla="*/ 0 w 8257351"/>
                <a:gd name="connsiteY4" fmla="*/ 6858003 h 6858003"/>
                <a:gd name="connsiteX5" fmla="*/ 0 w 8257351"/>
                <a:gd name="connsiteY5" fmla="*/ 0 h 6858003"/>
                <a:gd name="connsiteX0" fmla="*/ 0 w 8327385"/>
                <a:gd name="connsiteY0" fmla="*/ 0 h 6858003"/>
                <a:gd name="connsiteX1" fmla="*/ 6567486 w 8327385"/>
                <a:gd name="connsiteY1" fmla="*/ 0 h 6858003"/>
                <a:gd name="connsiteX2" fmla="*/ 8305799 w 8327385"/>
                <a:gd name="connsiteY2" fmla="*/ 3286128 h 6858003"/>
                <a:gd name="connsiteX3" fmla="*/ 7410450 w 8327385"/>
                <a:gd name="connsiteY3" fmla="*/ 6843716 h 6858003"/>
                <a:gd name="connsiteX4" fmla="*/ 0 w 8327385"/>
                <a:gd name="connsiteY4" fmla="*/ 6858003 h 6858003"/>
                <a:gd name="connsiteX5" fmla="*/ 0 w 8327385"/>
                <a:gd name="connsiteY5" fmla="*/ 0 h 6858003"/>
                <a:gd name="connsiteX0" fmla="*/ 0 w 8314761"/>
                <a:gd name="connsiteY0" fmla="*/ 0 h 6858003"/>
                <a:gd name="connsiteX1" fmla="*/ 6567486 w 8314761"/>
                <a:gd name="connsiteY1" fmla="*/ 0 h 6858003"/>
                <a:gd name="connsiteX2" fmla="*/ 8305799 w 8314761"/>
                <a:gd name="connsiteY2" fmla="*/ 3286128 h 6858003"/>
                <a:gd name="connsiteX3" fmla="*/ 7410450 w 8314761"/>
                <a:gd name="connsiteY3" fmla="*/ 6843716 h 6858003"/>
                <a:gd name="connsiteX4" fmla="*/ 0 w 8314761"/>
                <a:gd name="connsiteY4" fmla="*/ 6858003 h 6858003"/>
                <a:gd name="connsiteX5" fmla="*/ 0 w 8314761"/>
                <a:gd name="connsiteY5" fmla="*/ 0 h 6858003"/>
                <a:gd name="connsiteX0" fmla="*/ 0 w 8379458"/>
                <a:gd name="connsiteY0" fmla="*/ 0 h 6858003"/>
                <a:gd name="connsiteX1" fmla="*/ 6567486 w 8379458"/>
                <a:gd name="connsiteY1" fmla="*/ 0 h 6858003"/>
                <a:gd name="connsiteX2" fmla="*/ 8305799 w 8379458"/>
                <a:gd name="connsiteY2" fmla="*/ 3286128 h 6858003"/>
                <a:gd name="connsiteX3" fmla="*/ 8061081 w 8379458"/>
                <a:gd name="connsiteY3" fmla="*/ 6853607 h 6858003"/>
                <a:gd name="connsiteX4" fmla="*/ 0 w 8379458"/>
                <a:gd name="connsiteY4" fmla="*/ 6858003 h 6858003"/>
                <a:gd name="connsiteX5" fmla="*/ 0 w 8379458"/>
                <a:gd name="connsiteY5" fmla="*/ 0 h 6858003"/>
                <a:gd name="connsiteX0" fmla="*/ 0 w 8312730"/>
                <a:gd name="connsiteY0" fmla="*/ 4946 h 6862949"/>
                <a:gd name="connsiteX1" fmla="*/ 7745655 w 8312730"/>
                <a:gd name="connsiteY1" fmla="*/ 0 h 6862949"/>
                <a:gd name="connsiteX2" fmla="*/ 8305799 w 8312730"/>
                <a:gd name="connsiteY2" fmla="*/ 3291074 h 6862949"/>
                <a:gd name="connsiteX3" fmla="*/ 8061081 w 8312730"/>
                <a:gd name="connsiteY3" fmla="*/ 6858553 h 6862949"/>
                <a:gd name="connsiteX4" fmla="*/ 0 w 8312730"/>
                <a:gd name="connsiteY4" fmla="*/ 6862949 h 6862949"/>
                <a:gd name="connsiteX5" fmla="*/ 0 w 8312730"/>
                <a:gd name="connsiteY5" fmla="*/ 4946 h 6862949"/>
                <a:gd name="connsiteX0" fmla="*/ 3886196 w 8312730"/>
                <a:gd name="connsiteY0" fmla="*/ 74184 h 6862949"/>
                <a:gd name="connsiteX1" fmla="*/ 7745655 w 8312730"/>
                <a:gd name="connsiteY1" fmla="*/ 0 h 6862949"/>
                <a:gd name="connsiteX2" fmla="*/ 8305799 w 8312730"/>
                <a:gd name="connsiteY2" fmla="*/ 3291074 h 6862949"/>
                <a:gd name="connsiteX3" fmla="*/ 8061081 w 8312730"/>
                <a:gd name="connsiteY3" fmla="*/ 6858553 h 6862949"/>
                <a:gd name="connsiteX4" fmla="*/ 0 w 8312730"/>
                <a:gd name="connsiteY4" fmla="*/ 6862949 h 6862949"/>
                <a:gd name="connsiteX5" fmla="*/ 3886196 w 8312730"/>
                <a:gd name="connsiteY5" fmla="*/ 74184 h 6862949"/>
                <a:gd name="connsiteX0" fmla="*/ 2743193 w 8312730"/>
                <a:gd name="connsiteY0" fmla="*/ 4944 h 6862949"/>
                <a:gd name="connsiteX1" fmla="*/ 7745655 w 8312730"/>
                <a:gd name="connsiteY1" fmla="*/ 0 h 6862949"/>
                <a:gd name="connsiteX2" fmla="*/ 8305799 w 8312730"/>
                <a:gd name="connsiteY2" fmla="*/ 3291074 h 6862949"/>
                <a:gd name="connsiteX3" fmla="*/ 8061081 w 8312730"/>
                <a:gd name="connsiteY3" fmla="*/ 6858553 h 6862949"/>
                <a:gd name="connsiteX4" fmla="*/ 0 w 8312730"/>
                <a:gd name="connsiteY4" fmla="*/ 6862949 h 6862949"/>
                <a:gd name="connsiteX5" fmla="*/ 2743193 w 8312730"/>
                <a:gd name="connsiteY5" fmla="*/ 4944 h 6862949"/>
                <a:gd name="connsiteX0" fmla="*/ 0 w 5569537"/>
                <a:gd name="connsiteY0" fmla="*/ 4944 h 6858553"/>
                <a:gd name="connsiteX1" fmla="*/ 5002462 w 5569537"/>
                <a:gd name="connsiteY1" fmla="*/ 0 h 6858553"/>
                <a:gd name="connsiteX2" fmla="*/ 5562606 w 5569537"/>
                <a:gd name="connsiteY2" fmla="*/ 3291074 h 6858553"/>
                <a:gd name="connsiteX3" fmla="*/ 5317888 w 5569537"/>
                <a:gd name="connsiteY3" fmla="*/ 6858553 h 6858553"/>
                <a:gd name="connsiteX4" fmla="*/ 1626584 w 5569537"/>
                <a:gd name="connsiteY4" fmla="*/ 6679959 h 6858553"/>
                <a:gd name="connsiteX5" fmla="*/ 0 w 5569537"/>
                <a:gd name="connsiteY5" fmla="*/ 4944 h 6858553"/>
                <a:gd name="connsiteX0" fmla="*/ 0 w 5569537"/>
                <a:gd name="connsiteY0" fmla="*/ 4944 h 6862950"/>
                <a:gd name="connsiteX1" fmla="*/ 5002462 w 5569537"/>
                <a:gd name="connsiteY1" fmla="*/ 0 h 6862950"/>
                <a:gd name="connsiteX2" fmla="*/ 5562606 w 5569537"/>
                <a:gd name="connsiteY2" fmla="*/ 3291074 h 6862950"/>
                <a:gd name="connsiteX3" fmla="*/ 5317888 w 5569537"/>
                <a:gd name="connsiteY3" fmla="*/ 6858553 h 6862950"/>
                <a:gd name="connsiteX4" fmla="*/ 7 w 5569537"/>
                <a:gd name="connsiteY4" fmla="*/ 6862950 h 6862950"/>
                <a:gd name="connsiteX5" fmla="*/ 0 w 5569537"/>
                <a:gd name="connsiteY5" fmla="*/ 4944 h 6862950"/>
                <a:gd name="connsiteX0" fmla="*/ 0 w 5569537"/>
                <a:gd name="connsiteY0" fmla="*/ 4944 h 6863499"/>
                <a:gd name="connsiteX1" fmla="*/ 5002462 w 5569537"/>
                <a:gd name="connsiteY1" fmla="*/ 0 h 6863499"/>
                <a:gd name="connsiteX2" fmla="*/ 5562606 w 5569537"/>
                <a:gd name="connsiteY2" fmla="*/ 3291074 h 6863499"/>
                <a:gd name="connsiteX3" fmla="*/ 5317888 w 5569537"/>
                <a:gd name="connsiteY3" fmla="*/ 6863499 h 6863499"/>
                <a:gd name="connsiteX4" fmla="*/ 7 w 5569537"/>
                <a:gd name="connsiteY4" fmla="*/ 6862950 h 6863499"/>
                <a:gd name="connsiteX5" fmla="*/ 0 w 5569537"/>
                <a:gd name="connsiteY5" fmla="*/ 4944 h 6863499"/>
                <a:gd name="connsiteX0" fmla="*/ 0 w 5571601"/>
                <a:gd name="connsiteY0" fmla="*/ 4944 h 6863499"/>
                <a:gd name="connsiteX1" fmla="*/ 5002462 w 5571601"/>
                <a:gd name="connsiteY1" fmla="*/ 0 h 6863499"/>
                <a:gd name="connsiteX2" fmla="*/ 5562606 w 5571601"/>
                <a:gd name="connsiteY2" fmla="*/ 3291074 h 6863499"/>
                <a:gd name="connsiteX3" fmla="*/ 5317888 w 5571601"/>
                <a:gd name="connsiteY3" fmla="*/ 6863499 h 6863499"/>
                <a:gd name="connsiteX4" fmla="*/ 7 w 5571601"/>
                <a:gd name="connsiteY4" fmla="*/ 6862950 h 6863499"/>
                <a:gd name="connsiteX5" fmla="*/ 0 w 5571601"/>
                <a:gd name="connsiteY5" fmla="*/ 4944 h 6863499"/>
                <a:gd name="connsiteX0" fmla="*/ 0 w 5605868"/>
                <a:gd name="connsiteY0" fmla="*/ 4944 h 6863499"/>
                <a:gd name="connsiteX1" fmla="*/ 5002462 w 5605868"/>
                <a:gd name="connsiteY1" fmla="*/ 0 h 6863499"/>
                <a:gd name="connsiteX2" fmla="*/ 5597775 w 5605868"/>
                <a:gd name="connsiteY2" fmla="*/ 3271292 h 6863499"/>
                <a:gd name="connsiteX3" fmla="*/ 5317888 w 5605868"/>
                <a:gd name="connsiteY3" fmla="*/ 6863499 h 6863499"/>
                <a:gd name="connsiteX4" fmla="*/ 7 w 5605868"/>
                <a:gd name="connsiteY4" fmla="*/ 6862950 h 6863499"/>
                <a:gd name="connsiteX5" fmla="*/ 0 w 5605868"/>
                <a:gd name="connsiteY5" fmla="*/ 4944 h 6863499"/>
                <a:gd name="connsiteX0" fmla="*/ 0 w 5607921"/>
                <a:gd name="connsiteY0" fmla="*/ 4944 h 6863499"/>
                <a:gd name="connsiteX1" fmla="*/ 5002462 w 5607921"/>
                <a:gd name="connsiteY1" fmla="*/ 0 h 6863499"/>
                <a:gd name="connsiteX2" fmla="*/ 5597775 w 5607921"/>
                <a:gd name="connsiteY2" fmla="*/ 3271292 h 6863499"/>
                <a:gd name="connsiteX3" fmla="*/ 5317888 w 5607921"/>
                <a:gd name="connsiteY3" fmla="*/ 6863499 h 6863499"/>
                <a:gd name="connsiteX4" fmla="*/ 7 w 5607921"/>
                <a:gd name="connsiteY4" fmla="*/ 6862950 h 6863499"/>
                <a:gd name="connsiteX5" fmla="*/ 0 w 5607921"/>
                <a:gd name="connsiteY5" fmla="*/ 4944 h 6863499"/>
                <a:gd name="connsiteX0" fmla="*/ 0 w 5650794"/>
                <a:gd name="connsiteY0" fmla="*/ 4944 h 6863499"/>
                <a:gd name="connsiteX1" fmla="*/ 5002462 w 5650794"/>
                <a:gd name="connsiteY1" fmla="*/ 0 h 6863499"/>
                <a:gd name="connsiteX2" fmla="*/ 5641737 w 5650794"/>
                <a:gd name="connsiteY2" fmla="*/ 3246563 h 6863499"/>
                <a:gd name="connsiteX3" fmla="*/ 5317888 w 5650794"/>
                <a:gd name="connsiteY3" fmla="*/ 6863499 h 6863499"/>
                <a:gd name="connsiteX4" fmla="*/ 7 w 5650794"/>
                <a:gd name="connsiteY4" fmla="*/ 6862950 h 6863499"/>
                <a:gd name="connsiteX5" fmla="*/ 0 w 5650794"/>
                <a:gd name="connsiteY5" fmla="*/ 4944 h 6863499"/>
                <a:gd name="connsiteX0" fmla="*/ 0 w 5650794"/>
                <a:gd name="connsiteY0" fmla="*/ 4944 h 6863499"/>
                <a:gd name="connsiteX1" fmla="*/ 5002462 w 5650794"/>
                <a:gd name="connsiteY1" fmla="*/ 0 h 6863499"/>
                <a:gd name="connsiteX2" fmla="*/ 5641737 w 5650794"/>
                <a:gd name="connsiteY2" fmla="*/ 3246563 h 6863499"/>
                <a:gd name="connsiteX3" fmla="*/ 5317888 w 5650794"/>
                <a:gd name="connsiteY3" fmla="*/ 6863499 h 6863499"/>
                <a:gd name="connsiteX4" fmla="*/ 7 w 5650794"/>
                <a:gd name="connsiteY4" fmla="*/ 6862950 h 6863499"/>
                <a:gd name="connsiteX5" fmla="*/ 0 w 5650794"/>
                <a:gd name="connsiteY5" fmla="*/ 4944 h 686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0794" h="6863499">
                  <a:moveTo>
                    <a:pt x="0" y="4944"/>
                  </a:moveTo>
                  <a:lnTo>
                    <a:pt x="5002462" y="0"/>
                  </a:lnTo>
                  <a:cubicBezTo>
                    <a:pt x="5051414" y="14287"/>
                    <a:pt x="5571582" y="1454762"/>
                    <a:pt x="5641737" y="3246563"/>
                  </a:cubicBezTo>
                  <a:cubicBezTo>
                    <a:pt x="5711892" y="5038364"/>
                    <a:pt x="5352553" y="6834924"/>
                    <a:pt x="5317888" y="6863499"/>
                  </a:cubicBezTo>
                  <a:lnTo>
                    <a:pt x="7" y="6862950"/>
                  </a:lnTo>
                  <a:cubicBezTo>
                    <a:pt x="5" y="4576948"/>
                    <a:pt x="2" y="2290946"/>
                    <a:pt x="0" y="49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E1AD03-F106-347B-09A7-637BA5C3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9694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/>
            </a:gs>
            <a:gs pos="100000">
              <a:schemeClr val="accent3">
                <a:lumMod val="8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43200" y="731520"/>
            <a:ext cx="786384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8640" y="2743200"/>
            <a:ext cx="996696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Georgia"/>
          <a:ea typeface="ＭＳ Ｐゴシック" pitchFamily="-107" charset="-128"/>
          <a:cs typeface="Georgia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Georgia" charset="0"/>
          <a:ea typeface="ＭＳ Ｐゴシック" pitchFamily="-107" charset="-128"/>
          <a:cs typeface="Georgia" pitchFamily="-65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Georgia" charset="0"/>
          <a:ea typeface="ＭＳ Ｐゴシック" pitchFamily="-107" charset="-128"/>
          <a:cs typeface="Georgia" pitchFamily="-65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Georgia" charset="0"/>
          <a:ea typeface="ＭＳ Ｐゴシック" pitchFamily="-107" charset="-128"/>
          <a:cs typeface="Georgia" pitchFamily="-65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Georgia" charset="0"/>
          <a:ea typeface="ＭＳ Ｐゴシック" pitchFamily="-107" charset="-128"/>
          <a:cs typeface="Georgia" pitchFamily="-65" charset="0"/>
        </a:defRPr>
      </a:lvl5pPr>
      <a:lvl6pPr marL="489833"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Arial" pitchFamily="-111" charset="0"/>
        </a:defRPr>
      </a:lvl6pPr>
      <a:lvl7pPr marL="979665"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Arial" pitchFamily="-111" charset="0"/>
        </a:defRPr>
      </a:lvl7pPr>
      <a:lvl8pPr marL="1469498"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Arial" pitchFamily="-111" charset="0"/>
        </a:defRPr>
      </a:lvl8pPr>
      <a:lvl9pPr marL="1959331" algn="l" rtl="0" eaLnBrk="1" fontAlgn="base" hangingPunct="1">
        <a:spcBef>
          <a:spcPct val="0"/>
        </a:spcBef>
        <a:spcAft>
          <a:spcPct val="0"/>
        </a:spcAft>
        <a:defRPr sz="3450" b="1">
          <a:solidFill>
            <a:srgbClr val="931638"/>
          </a:solidFill>
          <a:latin typeface="Arial" pitchFamily="-111" charset="0"/>
        </a:defRPr>
      </a:lvl9pPr>
    </p:titleStyle>
    <p:bodyStyle>
      <a:lvl1pPr marL="367375" indent="-367375" algn="l" rtl="0" eaLnBrk="1" fontAlgn="base" hangingPunct="1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Georgia"/>
          <a:ea typeface="ＭＳ Ｐゴシック" pitchFamily="-107" charset="-128"/>
          <a:cs typeface="Georgia"/>
        </a:defRPr>
      </a:lvl1pPr>
      <a:lvl2pPr marL="795978" indent="-306146" algn="l" rtl="0" eaLnBrk="1" fontAlgn="base" hangingPunct="1">
        <a:spcBef>
          <a:spcPct val="20000"/>
        </a:spcBef>
        <a:spcAft>
          <a:spcPct val="0"/>
        </a:spcAft>
        <a:buChar char="–"/>
        <a:defRPr sz="2325">
          <a:solidFill>
            <a:schemeClr val="tx1"/>
          </a:solidFill>
          <a:latin typeface="Georgia"/>
          <a:ea typeface="ＭＳ Ｐゴシック" pitchFamily="-111" charset="-128"/>
          <a:cs typeface="Georgia"/>
        </a:defRPr>
      </a:lvl2pPr>
      <a:lvl3pPr marL="1224582" indent="-244916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Georgia"/>
          <a:ea typeface="ＭＳ Ｐゴシック" pitchFamily="-111" charset="-128"/>
          <a:cs typeface="Georgia"/>
        </a:defRPr>
      </a:lvl3pPr>
      <a:lvl4pPr marL="1714415" indent="-244916" algn="l" rtl="0" eaLnBrk="1" fontAlgn="base" hangingPunct="1">
        <a:spcBef>
          <a:spcPct val="20000"/>
        </a:spcBef>
        <a:spcAft>
          <a:spcPct val="0"/>
        </a:spcAft>
        <a:buChar char="–"/>
        <a:defRPr sz="1275">
          <a:solidFill>
            <a:schemeClr val="tx1"/>
          </a:solidFill>
          <a:latin typeface="Georgia"/>
          <a:ea typeface="ＭＳ Ｐゴシック" pitchFamily="-111" charset="-128"/>
          <a:cs typeface="Georgia"/>
        </a:defRPr>
      </a:lvl4pPr>
      <a:lvl5pPr marL="2204247" indent="-244916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Georgia"/>
          <a:ea typeface="ＭＳ Ｐゴシック" pitchFamily="-111" charset="-128"/>
          <a:cs typeface="Georgia"/>
        </a:defRPr>
      </a:lvl5pPr>
      <a:lvl6pPr marL="2694080" indent="-244916" algn="l" rtl="0" eaLnBrk="1" fontAlgn="base" hangingPunct="1">
        <a:spcBef>
          <a:spcPct val="20000"/>
        </a:spcBef>
        <a:spcAft>
          <a:spcPct val="0"/>
        </a:spcAft>
        <a:buChar char="»"/>
        <a:defRPr sz="2175">
          <a:solidFill>
            <a:schemeClr val="tx1"/>
          </a:solidFill>
          <a:latin typeface="+mn-lt"/>
          <a:ea typeface="ＭＳ Ｐゴシック" pitchFamily="-111" charset="-128"/>
        </a:defRPr>
      </a:lvl6pPr>
      <a:lvl7pPr marL="3183912" indent="-244916" algn="l" rtl="0" eaLnBrk="1" fontAlgn="base" hangingPunct="1">
        <a:spcBef>
          <a:spcPct val="20000"/>
        </a:spcBef>
        <a:spcAft>
          <a:spcPct val="0"/>
        </a:spcAft>
        <a:buChar char="»"/>
        <a:defRPr sz="2175">
          <a:solidFill>
            <a:schemeClr val="tx1"/>
          </a:solidFill>
          <a:latin typeface="+mn-lt"/>
          <a:ea typeface="ＭＳ Ｐゴシック" pitchFamily="-111" charset="-128"/>
        </a:defRPr>
      </a:lvl7pPr>
      <a:lvl8pPr marL="3673745" indent="-244916" algn="l" rtl="0" eaLnBrk="1" fontAlgn="base" hangingPunct="1">
        <a:spcBef>
          <a:spcPct val="20000"/>
        </a:spcBef>
        <a:spcAft>
          <a:spcPct val="0"/>
        </a:spcAft>
        <a:buChar char="»"/>
        <a:defRPr sz="2175">
          <a:solidFill>
            <a:schemeClr val="tx1"/>
          </a:solidFill>
          <a:latin typeface="+mn-lt"/>
          <a:ea typeface="ＭＳ Ｐゴシック" pitchFamily="-111" charset="-128"/>
        </a:defRPr>
      </a:lvl8pPr>
      <a:lvl9pPr marL="4163578" indent="-244916" algn="l" rtl="0" eaLnBrk="1" fontAlgn="base" hangingPunct="1">
        <a:spcBef>
          <a:spcPct val="20000"/>
        </a:spcBef>
        <a:spcAft>
          <a:spcPct val="0"/>
        </a:spcAft>
        <a:buChar char="»"/>
        <a:defRPr sz="2175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89833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79665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69498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59331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49163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38996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8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18662" algn="l" defTabSz="489833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Relationship Id="rId24" Type="http://schemas.openxmlformats.org/officeDocument/2006/relationships/image" Target="../media/image53.png"/><Relationship Id="rId25" Type="http://schemas.openxmlformats.org/officeDocument/2006/relationships/image" Target="../media/image54.png"/><Relationship Id="rId26" Type="http://schemas.openxmlformats.org/officeDocument/2006/relationships/image" Target="../media/image55.png"/><Relationship Id="rId27" Type="http://schemas.openxmlformats.org/officeDocument/2006/relationships/image" Target="../media/image56.png"/><Relationship Id="rId28" Type="http://schemas.openxmlformats.org/officeDocument/2006/relationships/image" Target="../media/image57.png"/><Relationship Id="rId29" Type="http://schemas.openxmlformats.org/officeDocument/2006/relationships/image" Target="../media/image58.png"/><Relationship Id="rId30" Type="http://schemas.openxmlformats.org/officeDocument/2006/relationships/image" Target="../media/image59.png"/><Relationship Id="rId31" Type="http://schemas.openxmlformats.org/officeDocument/2006/relationships/image" Target="../media/image60.png"/><Relationship Id="rId32" Type="http://schemas.openxmlformats.org/officeDocument/2006/relationships/image" Target="../media/image61.png"/><Relationship Id="rId33" Type="http://schemas.openxmlformats.org/officeDocument/2006/relationships/image" Target="../media/image62.png"/><Relationship Id="rId34" Type="http://schemas.openxmlformats.org/officeDocument/2006/relationships/image" Target="../media/image63.png"/><Relationship Id="rId35" Type="http://schemas.openxmlformats.org/officeDocument/2006/relationships/image" Target="../media/image64.png"/><Relationship Id="rId36" Type="http://schemas.openxmlformats.org/officeDocument/2006/relationships/image" Target="../media/image65.png"/><Relationship Id="rId37" Type="http://schemas.openxmlformats.org/officeDocument/2006/relationships/image" Target="../media/image66.png"/><Relationship Id="rId38" Type="http://schemas.openxmlformats.org/officeDocument/2006/relationships/image" Target="../media/image67.png"/><Relationship Id="rId39" Type="http://schemas.openxmlformats.org/officeDocument/2006/relationships/image" Target="../media/image68.png"/><Relationship Id="rId40" Type="http://schemas.openxmlformats.org/officeDocument/2006/relationships/image" Target="../media/image69.png"/><Relationship Id="rId41" Type="http://schemas.openxmlformats.org/officeDocument/2006/relationships/image" Target="../media/image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88036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Make My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86200"/>
            <a:ext cx="78638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Arial"/>
              </a:rPr>
              <a:t>One dataset, many controlled views - publication figures with the researcher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806440"/>
            <a:ext cx="78638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Arial"/>
              </a:rPr>
              <a:t>Desktop tutorial and demonstration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Arial"/>
              </a:rPr>
              <a:t>Version 1.2.0  -  45 plot types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Arial"/>
              </a:rPr>
              <a:t>Suresh Poudel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A real table rarely arrives ready to plot</a:t>
            </a:r>
          </a:p>
        </p:txBody>
      </p:sp>
      <p:pic>
        <p:nvPicPr>
          <p:cNvPr id="3" name="Picture 2" descr="table_excer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60349"/>
            <a:ext cx="4754880" cy="1874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7800" y="3931920"/>
            <a:ext cx="548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1D4E89"/>
                </a:solidFill>
                <a:latin typeface="Arial"/>
              </a:rPr>
              <a:t>→</a:t>
            </a:r>
          </a:p>
        </p:txBody>
      </p:sp>
      <p:pic>
        <p:nvPicPr>
          <p:cNvPr id="5" name="Picture 4" descr="J4_black_edged_filled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53021"/>
            <a:ext cx="4663440" cy="3689318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71780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2937"/>
                </a:solidFill>
                <a:latin typeface="Arial"/>
              </a:rPr>
              <a:t>Column names like col_A and measurement_2 are fine: you tell the application what each column means, and the figure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What Make My Figure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20"/>
            <a:ext cx="9692640" cy="5486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A desktop application (and a browser version) that draws 45 publication-style plot types from CSV, TSV and Excel tables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Runs entirely on your computer - no upload, no account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Proposes column roles, figures and tests; every proposal can be changed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Statistics on the figure: 19 tests, corrections, brackets, effect sizes, a methods sentence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Individual observations with controllable size, jitter, fill, edge and arrangement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Publication presets previewed on your own data before they are applied (experimental library)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Reproducibility: PlotSpec, StatsSpec, Figure Package (.mmfpackage) with frozen data and checksums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Multi-panel Figure Builder; open source, Python, Matplotlib and Qt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The application suggests. The researcher decides.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3200400" cy="3840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D4E89"/>
                </a:solidFill>
                <a:latin typeface="Arial"/>
              </a:rPr>
              <a:t>It proposes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8346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Arial"/>
              </a:rPr>
              <a:t>Detects column types, recommends figures with a match score, proposes a column for every role, suggests a test from the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40" y="2011680"/>
            <a:ext cx="3200400" cy="3840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9456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D4E89"/>
                </a:solidFill>
                <a:latin typeface="Arial"/>
              </a:rPr>
              <a:t>You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34640"/>
            <a:ext cx="28346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Arial"/>
              </a:rPr>
              <a:t>Every role is a drop-down of your own columns. Change any of them; the figure follows. Choose the test; the panel runs and documents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011680"/>
            <a:ext cx="3200400" cy="3840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19456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D4E89"/>
                </a:solidFill>
                <a:latin typeface="Arial"/>
              </a:rPr>
              <a:t>It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834640"/>
            <a:ext cx="28346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11111"/>
                </a:solidFill>
                <a:latin typeface="Arial"/>
              </a:rPr>
              <a:t>PlotSpec for the specification, StatsSpec for the test, Figure Package for specification plus frozen data. Nothing recomputed behind your 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937"/>
                </a:solidFill>
                <a:latin typeface="Arial"/>
              </a:rPr>
              <a:t>“The data do not belong to one plot.”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One dataset, multiple publication-ready views</a:t>
            </a:r>
          </a:p>
        </p:txBody>
      </p:sp>
      <p:pic>
        <p:nvPicPr>
          <p:cNvPr id="3" name="Picture 2" descr="B_box_points_outline_preset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12687"/>
            <a:ext cx="3291840" cy="2604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Box + observations (outline)</a:t>
            </a:r>
          </a:p>
        </p:txBody>
      </p:sp>
      <p:pic>
        <p:nvPicPr>
          <p:cNvPr id="5" name="Picture 4" descr="C_violin_points_preset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812687"/>
            <a:ext cx="3291840" cy="2604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0" y="64465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Violin + observations</a:t>
            </a:r>
          </a:p>
        </p:txBody>
      </p:sp>
      <p:pic>
        <p:nvPicPr>
          <p:cNvPr id="7" name="Picture 6" descr="D_bar_points_jittered_preset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454879"/>
            <a:ext cx="3291840" cy="33198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64465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Bar + observations (jittered)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9494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Arial"/>
              </a:rPr>
              <a:t>Same 40 observations (n = 7, 9, 11, 13), same Welch tests and P values - three experimental publication presets.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The observations are yours to show - size, jitter, fill, edge, arrangement</a:t>
            </a:r>
          </a:p>
        </p:txBody>
      </p:sp>
      <p:pic>
        <p:nvPicPr>
          <p:cNvPr id="3" name="Picture 2" descr="J1_small_narrow_jitter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1" y="1874520"/>
            <a:ext cx="3120758" cy="246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4340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small, narrow jitter</a:t>
            </a:r>
          </a:p>
        </p:txBody>
      </p:sp>
      <p:pic>
        <p:nvPicPr>
          <p:cNvPr id="5" name="Picture 4" descr="J2_large_moderate_jitter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021" y="1874520"/>
            <a:ext cx="3120758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0" y="434340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large, moderate jitter</a:t>
            </a:r>
          </a:p>
        </p:txBody>
      </p:sp>
      <p:pic>
        <p:nvPicPr>
          <p:cNvPr id="7" name="Picture 6" descr="J3_open_circles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301" y="1874520"/>
            <a:ext cx="3120758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434340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open circles</a:t>
            </a:r>
          </a:p>
        </p:txBody>
      </p:sp>
      <p:pic>
        <p:nvPicPr>
          <p:cNvPr id="9" name="Picture 8" descr="J4_black_edged_filled_p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41" y="4709160"/>
            <a:ext cx="3120758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71780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filled, dark edge</a:t>
            </a:r>
          </a:p>
        </p:txBody>
      </p:sp>
      <p:pic>
        <p:nvPicPr>
          <p:cNvPr id="11" name="Picture 10" descr="J5_beeswarm_p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6021" y="4709160"/>
            <a:ext cx="3120758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0" y="71780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beeswarm</a:t>
            </a:r>
          </a:p>
        </p:txBody>
      </p:sp>
      <p:pic>
        <p:nvPicPr>
          <p:cNvPr id="13" name="Picture 12" descr="J6_centered_no_jitter_pr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9301" y="4709160"/>
            <a:ext cx="3120758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71780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centred, translucent, no jitter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745236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Arial"/>
              </a:rPr>
              <a:t>The scientific data do not change. The presentation can.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Statistics on the figure - chosen by you, documented by the application</a:t>
            </a:r>
          </a:p>
        </p:txBody>
      </p:sp>
      <p:pic>
        <p:nvPicPr>
          <p:cNvPr id="3" name="Picture 2" descr="B_box_points_outline_preset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4061"/>
            <a:ext cx="5029200" cy="3978677"/>
          </a:xfrm>
          <a:prstGeom prst="rect">
            <a:avLst/>
          </a:prstGeom>
        </p:spPr>
      </p:pic>
      <p:pic>
        <p:nvPicPr>
          <p:cNvPr id="4" name="Picture 3" descr="group_comparison_box_05_statistics_0_20_5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62411"/>
            <a:ext cx="4937760" cy="4361978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713232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Welch's t-test, selected pairs, Holm correction: brackets with exact P, a results table, and the methods sentence to paste.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Publication presets are previewed on your own data</a:t>
            </a:r>
          </a:p>
        </p:txBody>
      </p:sp>
      <p:pic>
        <p:nvPicPr>
          <p:cNvPr id="3" name="Picture 2" descr="observations_jitter_09_preview_dialog_0_0_9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99" y="1874520"/>
            <a:ext cx="9922801" cy="448056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85800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Arial"/>
              </a:rPr>
              <a:t>Before and after, drawn on the loaded table - nothing is applied until you confirm.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The preview lists what changes and checks what must not</a:t>
            </a:r>
          </a:p>
        </p:txBody>
      </p:sp>
      <p:pic>
        <p:nvPicPr>
          <p:cNvPr id="3" name="Picture 2" descr="observations_jitter_09_preview_dialog_0_410_9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1841"/>
            <a:ext cx="10058400" cy="2525677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0080" y="4846320"/>
            <a:ext cx="9692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• Twelve experimental presets derived from published open-access figures and publishers' stated requirements; the letter in a name, (N) (S) (C), is the evidence set, not an approval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• Every setting that would change is listed (here marker opacity, point edge width, point size)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• Green line: no data, column role, statistical test, threshold or transformation changes - a preset that would is refused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• Apply, Cancel, or Save as my preset - a preset is a starting configuration, not a locked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Same data, different presentation - volcano</a:t>
            </a:r>
          </a:p>
        </p:txBody>
      </p:sp>
      <p:pic>
        <p:nvPicPr>
          <p:cNvPr id="3" name="Picture 2" descr="A_default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3241"/>
            <a:ext cx="4937760" cy="3023118"/>
          </a:xfrm>
          <a:prstGeom prst="rect">
            <a:avLst/>
          </a:prstGeom>
        </p:spPr>
      </p:pic>
      <p:pic>
        <p:nvPicPr>
          <p:cNvPr id="4" name="Picture 3" descr="B_refined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677647"/>
            <a:ext cx="4937760" cy="2874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default: raw P, ten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refined: adjusted P (FDR), boxed labels, larger markers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1,200 features, identical values; the axis, labels and markers changed, the numbers did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Same data, different presentation - clustered heatmap</a:t>
            </a:r>
          </a:p>
        </p:txBody>
      </p:sp>
      <p:pic>
        <p:nvPicPr>
          <p:cNvPr id="3" name="Picture 2" descr="A_basic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62" y="1874520"/>
            <a:ext cx="3537636" cy="4480560"/>
          </a:xfrm>
          <a:prstGeom prst="rect">
            <a:avLst/>
          </a:prstGeom>
        </p:spPr>
      </p:pic>
      <p:pic>
        <p:nvPicPr>
          <p:cNvPr id="4" name="Picture 3" descr="B_refined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199" y="1874520"/>
            <a:ext cx="3561042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basic: unscaled values, auto colormap, clustered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refined: row z-score, RdBu_r, samples in file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The same 30 most variable features. Scaling and colormap are presentation choices the reader must be told about.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Same data, different presentation - scatter with regression</a:t>
            </a:r>
          </a:p>
        </p:txBody>
      </p:sp>
      <p:pic>
        <p:nvPicPr>
          <p:cNvPr id="3" name="Picture 2" descr="A_basic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7520"/>
            <a:ext cx="4937760" cy="3774560"/>
          </a:xfrm>
          <a:prstGeom prst="rect">
            <a:avLst/>
          </a:prstGeom>
        </p:spPr>
      </p:pic>
      <p:pic>
        <p:nvPicPr>
          <p:cNvPr id="4" name="Picture 3" descr="B_refined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508274"/>
            <a:ext cx="4937760" cy="32130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basic: two roles, one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refined: colour by cell line, per-group fit, r / R² / P /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Adding a colour role turns one regression into one per group; the sixty points are the same.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Same data, different presentation - Kaplan-Meier</a:t>
            </a:r>
          </a:p>
        </p:txBody>
      </p:sp>
      <p:pic>
        <p:nvPicPr>
          <p:cNvPr id="3" name="Picture 2" descr="A_default_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5632"/>
            <a:ext cx="4937760" cy="3878335"/>
          </a:xfrm>
          <a:prstGeom prst="rect">
            <a:avLst/>
          </a:prstGeom>
        </p:spPr>
      </p:pic>
      <p:pic>
        <p:nvPicPr>
          <p:cNvPr id="4" name="Picture 3" descr="B_refined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173299"/>
            <a:ext cx="4937760" cy="3883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default: fraction, auto ticks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4465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refined: percent, 50 % reference, log-rank P on the 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9494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Eighty subjects, the same curves; the log-rank test is written on the figure and stored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From an ambiguous table to a publication figure</a:t>
            </a:r>
          </a:p>
        </p:txBody>
      </p:sp>
      <p:pic>
        <p:nvPicPr>
          <p:cNvPr id="3" name="Picture 2" descr="showcase_excer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96" y="1874520"/>
            <a:ext cx="3244528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23359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1  open the table: 40 animals, 4 groups, unequal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2651760"/>
            <a:ext cx="457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0">
                <a:solidFill>
                  <a:srgbClr val="1D4E89"/>
                </a:solidFill>
                <a:latin typeface="Arial"/>
              </a:rPr>
              <a:t>→</a:t>
            </a:r>
          </a:p>
        </p:txBody>
      </p:sp>
      <p:pic>
        <p:nvPicPr>
          <p:cNvPr id="6" name="Picture 5" descr="observations_jitter_07b_options_after_0_0_5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79205"/>
            <a:ext cx="4937760" cy="2093749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669280" y="4023359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2  map the roles; choose how the observations are drawn</a:t>
            </a:r>
          </a:p>
        </p:txBody>
      </p:sp>
      <p:pic>
        <p:nvPicPr>
          <p:cNvPr id="8" name="Picture 7" descr="B_box_points_outline_preset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32978"/>
            <a:ext cx="3566160" cy="2821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745236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66666"/>
                </a:solidFill>
                <a:latin typeface="Arial"/>
              </a:rPr>
              <a:t>3  statistics, publication preset,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846320"/>
            <a:ext cx="61264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2937"/>
                </a:solidFill>
                <a:latin typeface="Arial"/>
              </a:rPr>
              <a:t>Open, map, draw, test, preset, export.</a:t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2937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900" b="0">
                <a:solidFill>
                  <a:srgbClr val="1F2937"/>
                </a:solidFill>
                <a:latin typeface="Arial"/>
              </a:rPr>
              <a:t>Five minutes from a table with unnamed columns to a figure with brackets, a methods sentence, its PlotSpec and a Figure Package.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When the detector does not know your headers, you assign the roles</a:t>
            </a:r>
          </a:p>
        </p:txBody>
      </p:sp>
      <p:pic>
        <p:nvPicPr>
          <p:cNvPr id="3" name="Picture 2" descr="volcano_manual_mapping_04b_window_before_612_48_1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6288"/>
            <a:ext cx="10058400" cy="72518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pic>
        <p:nvPicPr>
          <p:cNvPr id="4" name="Picture 3" descr="04_mapping_renamed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13569"/>
            <a:ext cx="4937760" cy="1282421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46177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every role starts at (none): the detector does not know these headers</a:t>
            </a:r>
          </a:p>
        </p:txBody>
      </p:sp>
      <p:pic>
        <p:nvPicPr>
          <p:cNvPr id="6" name="Picture 5" descr="05_mapping_renamed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96649"/>
            <a:ext cx="4937760" cy="1282421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x, p, label, id_col assigned by hand</a:t>
            </a:r>
          </a:p>
        </p:txBody>
      </p:sp>
      <p:pic>
        <p:nvPicPr>
          <p:cNvPr id="8" name="Picture 7" descr="B_refined_p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702593"/>
            <a:ext cx="5029200" cy="29275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71780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F2937"/>
                </a:solidFill>
                <a:latin typeface="Arial"/>
              </a:rPr>
              <a:t>The Messages tab names the missing roles; four drop-downs later the volcano renders - P values read from the table, never recomputed.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Reproducibility - a Figure Package carries the figure and its frozen data</a:t>
            </a:r>
          </a:p>
        </p:txBody>
      </p:sp>
      <p:pic>
        <p:nvPicPr>
          <p:cNvPr id="3" name="Picture 2" descr="03_package_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4540"/>
            <a:ext cx="4572000" cy="352044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394960" y="1874520"/>
            <a:ext cx="53035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• What is inside one .mmfpackage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– plot_spec.json, stats_spec.json (settings and results), render_metadata.json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– data/source.csv and the typed table; the original file when available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– preview/figure.png, .svg, .pdf; environment/environment.json</a:t>
            </a:r>
          </a:p>
          <a:p>
            <a:pPr lvl="1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– manifest.json with a SHA-256 for every member - verified before drawing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• PlotSpec alone is the recipe; it needs the data file to redraw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Arial"/>
              </a:rPr>
              <a:t>Move the one file anywhere, open it: integrity verified, mapping, options and brackets restored.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Figure Builder - panels carry their own data</a:t>
            </a:r>
          </a:p>
        </p:txBody>
      </p:sp>
      <p:pic>
        <p:nvPicPr>
          <p:cNvPr id="3" name="Picture 2" descr="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2187"/>
            <a:ext cx="10058400" cy="4399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13232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Panel letters, width in millimetres, fonts for all panels; the composite exports as PNG, PDF, SVG and as a Figure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The tutorial is generated from the real application and checked by running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651760"/>
            <a:ext cx="228600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F2937"/>
                </a:solidFill>
                <a:latin typeface="Arial"/>
              </a:rPr>
              <a:t>tutorial action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88036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1D4E89"/>
                </a:solidFill>
                <a:latin typeface="Arial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2651760"/>
            <a:ext cx="2286000" cy="1097280"/>
          </a:xfrm>
          <a:prstGeom prst="roundRect">
            <a:avLst/>
          </a:prstGeom>
          <a:solidFill>
            <a:srgbClr val="E3EBF5"/>
          </a:solidFill>
          <a:ln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274320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F2937"/>
                </a:solidFill>
                <a:latin typeface="Arial"/>
              </a:rPr>
              <a:t>driver operates the real MainWindow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288036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1D4E89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651760"/>
            <a:ext cx="228600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74320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F2937"/>
                </a:solidFill>
                <a:latin typeface="Arial"/>
              </a:rPr>
              <a:t>screenshots (offscreen) or video (on screen)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8036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1D4E89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651760"/>
            <a:ext cx="2286000" cy="1097280"/>
          </a:xfrm>
          <a:prstGeom prst="roundRect">
            <a:avLst/>
          </a:prstGeom>
          <a:solidFill>
            <a:srgbClr val="E3EBF5"/>
          </a:solidFill>
          <a:ln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743200"/>
            <a:ext cx="2103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F2937"/>
                </a:solidFill>
                <a:latin typeface="Arial"/>
              </a:rPr>
              <a:t>validation record PASS /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Arial"/>
              </a:rPr>
              <a:t>No mock-ups: every screenshot is a grab of the production widgets; every step is a step a user can click; every claim was executed.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969264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• Same script, two modes: deterministic screenshots, or a visible window for video recording (recording kept separate)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• Same-data showcases rendered by the application's renderer; presets applied from their files; data integrity recorded per 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Every tutorial instruction executed against the application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874520"/>
          <a:ext cx="9875520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280160"/>
                <a:gridCol w="2926080"/>
              </a:tblGrid>
              <a:tr h="34747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Tutorial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Checks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Figure Builder: a two-panel composite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8 checks, 3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Reproducibility: PlotSpec and Figure Package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9 checks, 7 captures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Figure presets: style travels, data stays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8 checks, 6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Getting started with the desktop application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0 checks, 6 captures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Box / violin plot with points and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8 checks, 8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Clustered heatmap from a feature-by-sample matrix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5 checks, 6 captures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Kaplan-Meier survival curve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6 checks, 7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Column mapping with ambiguous column names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7 checks, 11 captures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Master replay: from an ordinary table to a reproducible multi-panel figure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48 checks, 27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Showing individual observations and controlling jitter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20 checks, 17 captures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Publication presets: preview, apply, keep adjusting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13 checks, 9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Scatter plot with regression line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6 checks, 8 captures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Volcano plot: automatic detection and manual role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7A3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Arial"/>
                        </a:rPr>
                        <a:t>8 checks, 10 captures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45 plot types, one workflow</a:t>
            </a:r>
          </a:p>
        </p:txBody>
      </p:sp>
      <p:pic>
        <p:nvPicPr>
          <p:cNvPr id="3" name="Picture 2" descr="barplot_with_erro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9534"/>
            <a:ext cx="1188720" cy="944372"/>
          </a:xfrm>
          <a:prstGeom prst="rect">
            <a:avLst/>
          </a:prstGeom>
        </p:spPr>
      </p:pic>
      <p:pic>
        <p:nvPicPr>
          <p:cNvPr id="4" name="Picture 3" descr="grouped_barplot_with_erro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941720"/>
            <a:ext cx="1188720" cy="780000"/>
          </a:xfrm>
          <a:prstGeom prst="rect">
            <a:avLst/>
          </a:prstGeom>
        </p:spPr>
      </p:pic>
      <p:pic>
        <p:nvPicPr>
          <p:cNvPr id="5" name="Picture 4" descr="heatmap_clustered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400" y="1783080"/>
            <a:ext cx="876367" cy="1097280"/>
          </a:xfrm>
          <a:prstGeom prst="rect">
            <a:avLst/>
          </a:prstGeom>
        </p:spPr>
      </p:pic>
      <p:pic>
        <p:nvPicPr>
          <p:cNvPr id="6" name="Picture 5" descr="volcano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096" y="1865260"/>
            <a:ext cx="1188720" cy="932919"/>
          </a:xfrm>
          <a:prstGeom prst="rect">
            <a:avLst/>
          </a:prstGeom>
        </p:spPr>
      </p:pic>
      <p:pic>
        <p:nvPicPr>
          <p:cNvPr id="7" name="Picture 6" descr="scatterplot_with_regres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1933514"/>
            <a:ext cx="1188720" cy="796412"/>
          </a:xfrm>
          <a:prstGeom prst="rect">
            <a:avLst/>
          </a:prstGeom>
        </p:spPr>
      </p:pic>
      <p:pic>
        <p:nvPicPr>
          <p:cNvPr id="8" name="Picture 7" descr="boxplot_or_violin_with_poi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859534"/>
            <a:ext cx="1188720" cy="944372"/>
          </a:xfrm>
          <a:prstGeom prst="rect">
            <a:avLst/>
          </a:prstGeom>
        </p:spPr>
      </p:pic>
      <p:pic>
        <p:nvPicPr>
          <p:cNvPr id="9" name="Picture 8" descr="lineplot_timecourse_with_error_b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712" y="1920621"/>
            <a:ext cx="1188720" cy="822198"/>
          </a:xfrm>
          <a:prstGeom prst="rect">
            <a:avLst/>
          </a:prstGeom>
        </p:spPr>
      </p:pic>
      <p:pic>
        <p:nvPicPr>
          <p:cNvPr id="10" name="Picture 9" descr="ridge_or_density_pl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4584" y="1798447"/>
            <a:ext cx="1188720" cy="1066546"/>
          </a:xfrm>
          <a:prstGeom prst="rect">
            <a:avLst/>
          </a:prstGeom>
        </p:spPr>
      </p:pic>
      <p:pic>
        <p:nvPicPr>
          <p:cNvPr id="11" name="Picture 10" descr="histogram_distribu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3173603"/>
            <a:ext cx="1188720" cy="657098"/>
          </a:xfrm>
          <a:prstGeom prst="rect">
            <a:avLst/>
          </a:prstGeom>
        </p:spPr>
      </p:pic>
      <p:pic>
        <p:nvPicPr>
          <p:cNvPr id="12" name="Picture 11" descr="enrichment_dotplo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3352" y="2962446"/>
            <a:ext cx="1188720" cy="1079412"/>
          </a:xfrm>
          <a:prstGeom prst="rect">
            <a:avLst/>
          </a:prstGeom>
        </p:spPr>
      </p:pic>
      <p:pic>
        <p:nvPicPr>
          <p:cNvPr id="13" name="Picture 12" descr="kaplan_meier_survival_curv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35224" y="3029966"/>
            <a:ext cx="1188720" cy="944372"/>
          </a:xfrm>
          <a:prstGeom prst="rect">
            <a:avLst/>
          </a:prstGeom>
        </p:spPr>
      </p:pic>
      <p:pic>
        <p:nvPicPr>
          <p:cNvPr id="14" name="Picture 13" descr="stacked_bar_compositi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7096" y="3091053"/>
            <a:ext cx="1188720" cy="822198"/>
          </a:xfrm>
          <a:prstGeom prst="rect">
            <a:avLst/>
          </a:prstGeom>
        </p:spPr>
      </p:pic>
      <p:pic>
        <p:nvPicPr>
          <p:cNvPr id="15" name="Picture 14" descr="waterfall_plo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8968" y="3151165"/>
            <a:ext cx="1188720" cy="701973"/>
          </a:xfrm>
          <a:prstGeom prst="rect">
            <a:avLst/>
          </a:prstGeom>
        </p:spPr>
      </p:pic>
      <p:pic>
        <p:nvPicPr>
          <p:cNvPr id="16" name="Picture 15" descr="pca_scatter_from_matrix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840" y="2998597"/>
            <a:ext cx="1188720" cy="1007110"/>
          </a:xfrm>
          <a:prstGeom prst="rect">
            <a:avLst/>
          </a:prstGeom>
        </p:spPr>
      </p:pic>
      <p:pic>
        <p:nvPicPr>
          <p:cNvPr id="17" name="Picture 16" descr="oncoprint_mutation_heatma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2712" y="3089908"/>
            <a:ext cx="1188720" cy="824488"/>
          </a:xfrm>
          <a:prstGeom prst="rect">
            <a:avLst/>
          </a:prstGeom>
        </p:spPr>
      </p:pic>
      <p:pic>
        <p:nvPicPr>
          <p:cNvPr id="18" name="Picture 17" descr="lollipop_mutation_plo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4584" y="3261234"/>
            <a:ext cx="1188720" cy="481835"/>
          </a:xfrm>
          <a:prstGeom prst="rect">
            <a:avLst/>
          </a:prstGeom>
        </p:spPr>
      </p:pic>
      <p:pic>
        <p:nvPicPr>
          <p:cNvPr id="19" name="Picture 18" descr="roc_curv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6532" y="4123944"/>
            <a:ext cx="1118616" cy="1097280"/>
          </a:xfrm>
          <a:prstGeom prst="rect">
            <a:avLst/>
          </a:prstGeom>
        </p:spPr>
      </p:pic>
      <p:pic>
        <p:nvPicPr>
          <p:cNvPr id="20" name="Picture 19" descr="forest_plo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73352" y="4259188"/>
            <a:ext cx="1188720" cy="826791"/>
          </a:xfrm>
          <a:prstGeom prst="rect">
            <a:avLst/>
          </a:prstGeom>
        </p:spPr>
      </p:pic>
      <p:pic>
        <p:nvPicPr>
          <p:cNvPr id="21" name="Picture 20" descr="dot_strip_plo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35224" y="4248277"/>
            <a:ext cx="1188720" cy="848614"/>
          </a:xfrm>
          <a:prstGeom prst="rect">
            <a:avLst/>
          </a:prstGeom>
        </p:spPr>
      </p:pic>
      <p:pic>
        <p:nvPicPr>
          <p:cNvPr id="22" name="Picture 21" descr="beeswarm_plo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7096" y="4248277"/>
            <a:ext cx="1188720" cy="848614"/>
          </a:xfrm>
          <a:prstGeom prst="rect">
            <a:avLst/>
          </a:prstGeom>
        </p:spPr>
      </p:pic>
      <p:pic>
        <p:nvPicPr>
          <p:cNvPr id="23" name="Picture 22" descr="paired_slopegraph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58968" y="4169029"/>
            <a:ext cx="1188720" cy="1007110"/>
          </a:xfrm>
          <a:prstGeom prst="rect">
            <a:avLst/>
          </a:prstGeom>
        </p:spPr>
      </p:pic>
      <p:pic>
        <p:nvPicPr>
          <p:cNvPr id="24" name="Picture 23" descr="raincloud_plo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20840" y="4248277"/>
            <a:ext cx="1188720" cy="848614"/>
          </a:xfrm>
          <a:prstGeom prst="rect">
            <a:avLst/>
          </a:prstGeom>
        </p:spPr>
      </p:pic>
      <p:pic>
        <p:nvPicPr>
          <p:cNvPr id="25" name="Picture 24" descr="hierarchical_dendrogram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82712" y="4273042"/>
            <a:ext cx="1188720" cy="799084"/>
          </a:xfrm>
          <a:prstGeom prst="rect">
            <a:avLst/>
          </a:prstGeom>
        </p:spPr>
      </p:pic>
      <p:pic>
        <p:nvPicPr>
          <p:cNvPr id="26" name="Picture 25" descr="ma_plo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44584" y="4265069"/>
            <a:ext cx="1188720" cy="815030"/>
          </a:xfrm>
          <a:prstGeom prst="rect">
            <a:avLst/>
          </a:prstGeom>
        </p:spPr>
      </p:pic>
      <p:pic>
        <p:nvPicPr>
          <p:cNvPr id="27" name="Picture 26" descr="manhattan_plo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1480" y="5552440"/>
            <a:ext cx="1188720" cy="581152"/>
          </a:xfrm>
          <a:prstGeom prst="rect">
            <a:avLst/>
          </a:prstGeom>
        </p:spPr>
      </p:pic>
      <p:pic>
        <p:nvPicPr>
          <p:cNvPr id="28" name="Picture 27" descr="qq_plot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73352" y="5296535"/>
            <a:ext cx="1188720" cy="1092962"/>
          </a:xfrm>
          <a:prstGeom prst="rect">
            <a:avLst/>
          </a:prstGeom>
        </p:spPr>
      </p:pic>
      <p:pic>
        <p:nvPicPr>
          <p:cNvPr id="29" name="Picture 28" descr="bland_altman_plot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35224" y="5418709"/>
            <a:ext cx="1188720" cy="848614"/>
          </a:xfrm>
          <a:prstGeom prst="rect">
            <a:avLst/>
          </a:prstGeom>
        </p:spPr>
      </p:pic>
      <p:pic>
        <p:nvPicPr>
          <p:cNvPr id="30" name="Picture 29" descr="precision_recall_curv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32148" y="5294376"/>
            <a:ext cx="1118616" cy="1097280"/>
          </a:xfrm>
          <a:prstGeom prst="rect">
            <a:avLst/>
          </a:prstGeom>
        </p:spPr>
      </p:pic>
      <p:pic>
        <p:nvPicPr>
          <p:cNvPr id="31" name="Picture 30" descr="confusion_matrix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03164" y="5294376"/>
            <a:ext cx="1100328" cy="1097280"/>
          </a:xfrm>
          <a:prstGeom prst="rect">
            <a:avLst/>
          </a:prstGeom>
        </p:spPr>
      </p:pic>
      <p:pic>
        <p:nvPicPr>
          <p:cNvPr id="32" name="Picture 31" descr="calibration_plot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54126" y="5294376"/>
            <a:ext cx="1122147" cy="1097280"/>
          </a:xfrm>
          <a:prstGeom prst="rect">
            <a:avLst/>
          </a:prstGeom>
        </p:spPr>
      </p:pic>
      <p:pic>
        <p:nvPicPr>
          <p:cNvPr id="33" name="Picture 32" descr="dose_response_curv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982712" y="5424521"/>
            <a:ext cx="1188720" cy="836989"/>
          </a:xfrm>
          <a:prstGeom prst="rect">
            <a:avLst/>
          </a:prstGeom>
        </p:spPr>
      </p:pic>
      <p:pic>
        <p:nvPicPr>
          <p:cNvPr id="34" name="Picture 33" descr="upset_plot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244584" y="5332836"/>
            <a:ext cx="1188720" cy="1020360"/>
          </a:xfrm>
          <a:prstGeom prst="rect">
            <a:avLst/>
          </a:prstGeom>
        </p:spPr>
      </p:pic>
      <p:pic>
        <p:nvPicPr>
          <p:cNvPr id="35" name="Picture 34" descr="swimmer_plot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82917" y="6464808"/>
            <a:ext cx="1045845" cy="1097280"/>
          </a:xfrm>
          <a:prstGeom prst="rect">
            <a:avLst/>
          </a:prstGeom>
        </p:spPr>
      </p:pic>
      <p:pic>
        <p:nvPicPr>
          <p:cNvPr id="36" name="Picture 35" descr="spider_plot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673352" y="6646684"/>
            <a:ext cx="1188720" cy="733527"/>
          </a:xfrm>
          <a:prstGeom prst="rect">
            <a:avLst/>
          </a:prstGeom>
        </p:spPr>
      </p:pic>
      <p:pic>
        <p:nvPicPr>
          <p:cNvPr id="37" name="Picture 36" descr="sankey_plot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935224" y="6632555"/>
            <a:ext cx="1188720" cy="761785"/>
          </a:xfrm>
          <a:prstGeom prst="rect">
            <a:avLst/>
          </a:prstGeom>
        </p:spPr>
      </p:pic>
      <p:pic>
        <p:nvPicPr>
          <p:cNvPr id="38" name="Picture 37" descr="embedding_scatter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97096" y="6680606"/>
            <a:ext cx="1188720" cy="665683"/>
          </a:xfrm>
          <a:prstGeom prst="rect">
            <a:avLst/>
          </a:prstGeom>
        </p:spPr>
      </p:pic>
      <p:pic>
        <p:nvPicPr>
          <p:cNvPr id="39" name="Picture 38" descr="hierarchical_clustering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29486" y="6464808"/>
            <a:ext cx="847684" cy="1097280"/>
          </a:xfrm>
          <a:prstGeom prst="rect">
            <a:avLst/>
          </a:prstGeom>
        </p:spPr>
      </p:pic>
      <p:pic>
        <p:nvPicPr>
          <p:cNvPr id="40" name="Picture 39" descr="network_graph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720840" y="6518148"/>
            <a:ext cx="1188720" cy="990600"/>
          </a:xfrm>
          <a:prstGeom prst="rect">
            <a:avLst/>
          </a:prstGeom>
        </p:spPr>
      </p:pic>
      <p:pic>
        <p:nvPicPr>
          <p:cNvPr id="41" name="Picture 40" descr="chord_diagram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83430" y="6464808"/>
            <a:ext cx="987283" cy="1097280"/>
          </a:xfrm>
          <a:prstGeom prst="rect">
            <a:avLst/>
          </a:prstGeom>
        </p:spPr>
      </p:pic>
      <p:pic>
        <p:nvPicPr>
          <p:cNvPr id="42" name="Picture 41" descr="spatial_categorical_map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244584" y="6649336"/>
            <a:ext cx="1188720" cy="7282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76809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66666"/>
                </a:solidFill>
                <a:latin typeface="Arial"/>
              </a:rPr>
              <a:t>Thumbnails for breadth only - each is a real render of the bundled synthetic example (tutorial/PLOT_GALLERY.md)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New in 1.2.0 - spatial analysis</a:t>
            </a:r>
          </a:p>
        </p:txBody>
      </p:sp>
      <p:pic>
        <p:nvPicPr>
          <p:cNvPr id="3" name="Picture 2" descr="spatial_s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4" y="1874520"/>
            <a:ext cx="9356651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08660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Arial"/>
              </a:rPr>
              <a:t>Six plot types on one spatial core. Checked against published results, not against itself: CNTools Fig 3A reproduced exactly, and again by a hand-check importing no project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New in 1.2.0 - the width you ask for is the width you get</a:t>
            </a:r>
          </a:p>
        </p:txBody>
      </p:sp>
      <p:pic>
        <p:nvPicPr>
          <p:cNvPr id="3" name="Picture 2" descr="width_i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969264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9494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Arial"/>
              </a:rPr>
              <a:t>Three layers used to overrule a requested width - a network graph returned 132 mm whatever you picked. All 45 plot types now honour all five settings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New in 1.2.0 - what else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20"/>
            <a:ext cx="969264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 One typography system</a:t>
            </a:r>
          </a:p>
          <a:p>
            <a:pPr lvl="1"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– one font setting gives one size on the page - four panels of one figure used to come out at 69%, 71%, 98% and 66% of the size asked for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 Error bars say which statistic they are</a:t>
            </a:r>
          </a:p>
          <a:p>
            <a:pPr lvl="1"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– SEM, SD, 95% CI (normal and t), IQR - and a whisker that does not describe its bar is corrected and reported, not drawn as though it were intended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 The clustered heatmap's cluster bars got the colourbar's controls</a:t>
            </a:r>
          </a:p>
          <a:p>
            <a:pPr lvl="1"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– thickness, padding, side, labels, palette, legend placement, and separators between groups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 Every render is reproducible</a:t>
            </a:r>
          </a:p>
          <a:p>
            <a:pPr lvl="1"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– three plot types drew a different figure on each run from identical input; the label solver was given a wall-clock budget and now gets a fixed number of passes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• Every control on every plot type was exercised by measuring the output</a:t>
            </a:r>
          </a:p>
          <a:p>
            <a:pPr lvl="1"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– 1,689 controls; the ones that changed nothing were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78040"/>
            <a:ext cx="9875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F2937"/>
                </a:solidFill>
                <a:latin typeface="Arial"/>
              </a:rPr>
              <a:t>Experimental publication presets ship opt-in and off by default. They are not journal templates and claim no compliance, endorsement or acceptance.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Where this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20"/>
            <a:ext cx="9692640" cy="5486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• Reviewed and rebuilt</a:t>
            </a:r>
          </a:p>
          <a:p>
            <a:pPr lvl="1">
              <a:lnSpc>
                <a:spcPct val="108000"/>
              </a:lnSpc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– tutorial and slides re-evaluated as visual demonstrations; observations, jitter and publication presets shown at readable size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• After author review</a:t>
            </a:r>
          </a:p>
          <a:p>
            <a:pPr lvl="1">
              <a:lnSpc>
                <a:spcPct val="108000"/>
              </a:lnSpc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– remaining plot tutorials with the same template; matrix workflow tutorial and video; master and plot videos recorded live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• Released as v1.2.0</a:t>
            </a:r>
          </a:p>
          <a:p>
            <a:pPr lvl="1">
              <a:lnSpc>
                <a:spcPct val="108000"/>
              </a:lnSpc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– the observation controls and the experimental presets were merged and released, so these chapters ship</a:t>
            </a:r>
          </a:p>
          <a:p>
            <a:pPr lvl="1">
              <a:lnSpc>
                <a:spcPct val="108000"/>
              </a:lnSpc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– built on Windows, macOS and Linux from one commit, each smoke-tested on its own runner; Windows and macOS were not validated interactively by a person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• This tutorial branch is not merged into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384048"/>
            <a:ext cx="886968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F2937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20"/>
            <a:ext cx="96926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Open any table; the application detects, recommends and proposes - and you assign every role yourself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One dataset, many controlled representations: summary plus every observation, with the test on the figure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Publication presets are previewed on your data and remain a starting point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PlotSpec carries the recipe; a Figure Package carries recipe and ingredients, verified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900" b="0">
                <a:solidFill>
                  <a:srgbClr val="111111"/>
                </a:solidFill>
                <a:latin typeface="Arial"/>
              </a:rPr>
              <a:t>• The tutorial is generated from the real application and validated by running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0"/>
            <a:ext cx="9692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66666"/>
                </a:solidFill>
                <a:latin typeface="Arial"/>
              </a:rPr>
              <a:t>github.com/surPoudel/make-my-figure  -  tutorial/ on the pilot branch (not yet published)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181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Arial"/>
              </a:rPr>
              <a:t>Make My Figure - desktop tutorial   | 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t_gold_1">
  <a:themeElements>
    <a:clrScheme name="lt_gold_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t_gold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t_gold_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_gold_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_gold_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_gold_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_gold_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_gold_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_gold_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_gold_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_gold_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_gold_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_gold_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_gold_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6B3EE81B-071B-BD47-BF63-C2C10EEF03E9}" vid="{CA9738CC-98EB-774B-9E04-2634C5BDA4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AED8885AE0D7479959AAF6DF60077D" ma:contentTypeVersion="1" ma:contentTypeDescription="Create a new document." ma:contentTypeScope="" ma:versionID="f120c2e67c1e744cbca71b9d56e752ff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ef2aa9ed40e72a78c3822fc753b43e87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F4DE3E-C40F-4DAB-A3C5-FE9D33130F4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3C54E24B-1673-4789-9D05-7F5BA2EBF9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9172B2-50B2-4CFF-8E98-DBA4457AAD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7aa8578-7765-45c0-bacd-f8613a90fe91}" enabled="1" method="Privileged" siteId="{22340fa8-9226-4871-b677-d3b3e377af7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PPT_0006_A_16x9</Template>
  <TotalTime>12654</TotalTime>
  <Words>4028</Words>
  <Application>Microsoft Macintosh PowerPoint</Application>
  <PresentationFormat>Custom</PresentationFormat>
  <Paragraphs>623</Paragraphs>
  <Slides>35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ＭＳ Ｐゴシック</vt:lpstr>
      <vt:lpstr>-webkit-standard</vt:lpstr>
      <vt:lpstr>Aptos</vt:lpstr>
      <vt:lpstr>Aptos Display</vt:lpstr>
      <vt:lpstr>Aptos Narrow</vt:lpstr>
      <vt:lpstr>Arial</vt:lpstr>
      <vt:lpstr>Calibri</vt:lpstr>
      <vt:lpstr>Georgia</vt:lpstr>
      <vt:lpstr>system-ui</vt:lpstr>
      <vt:lpstr>Wingdings</vt:lpstr>
      <vt:lpstr>lt_gold_1</vt:lpstr>
      <vt:lpstr> </vt:lpstr>
      <vt:lpstr>Overview</vt:lpstr>
      <vt:lpstr>Introduction to GBP</vt:lpstr>
      <vt:lpstr>Introduction to GBP</vt:lpstr>
      <vt:lpstr>Introduction to GBP</vt:lpstr>
      <vt:lpstr>Deletion of a prominent interferon-stimulated gene (ISG) reduces tumor volume significantly (MC38)</vt:lpstr>
      <vt:lpstr>Deletion of a prominent interferon-stimulated gene (ISG) causes complete tumor rejection (MC38)</vt:lpstr>
      <vt:lpstr>Beta-2-microgloblulin (B2M) KO in cancer cell did not change the phenotype</vt:lpstr>
      <vt:lpstr>The presence of tumor ISG gene in cancer cell (foreign) is not the reason for the observed phenotype</vt:lpstr>
      <vt:lpstr>PowerPoint Presentation</vt:lpstr>
      <vt:lpstr>TCGA data reveal inverse relationship between ISG expression and patient survival</vt:lpstr>
      <vt:lpstr>Anti-tumoral effect is immune mediated but T-cell extrinsic</vt:lpstr>
      <vt:lpstr>Location, location, location: the gene controls immune cell infiltration in tumors</vt:lpstr>
      <vt:lpstr>Comparison of measurement modalities and the “spatial” information they retain</vt:lpstr>
      <vt:lpstr>STAMP: Single-cell transcriptomics analysis and multimodal profiling through imaging</vt:lpstr>
      <vt:lpstr>PowerPoint Presentation</vt:lpstr>
      <vt:lpstr>STAMP data analysis approach</vt:lpstr>
      <vt:lpstr>UMAPs (Het and KO)</vt:lpstr>
      <vt:lpstr>How cluster dominance status was determined</vt:lpstr>
      <vt:lpstr>Teasing out the enrichment/dominance of cell population </vt:lpstr>
      <vt:lpstr>Consensus annotation workflow</vt:lpstr>
      <vt:lpstr>Celltype annotation finalized</vt:lpstr>
      <vt:lpstr>Distribution of cells across samples and groups</vt:lpstr>
      <vt:lpstr>High-plex imaging of RNA and proteins at subcellular resolution in fixed tissue by spatial molecular imaging</vt:lpstr>
      <vt:lpstr>What is CosMx spatial Molecular Imager (SMI)?</vt:lpstr>
      <vt:lpstr>Advantage of STAMP and CosMx integration</vt:lpstr>
      <vt:lpstr>Projection of STAMP transcriptome to CosMx dataset</vt:lpstr>
      <vt:lpstr>PowerPoint Presentation</vt:lpstr>
      <vt:lpstr>More annotation work !!!</vt:lpstr>
      <vt:lpstr>Current annotations</vt:lpstr>
      <vt:lpstr>Inference table and final label</vt:lpstr>
      <vt:lpstr>Cell state composition, which cells are highly abundant?</vt:lpstr>
      <vt:lpstr>Neighborhood enrichment suggests genotype-specific spatial rewiring</vt:lpstr>
      <vt:lpstr>Who sits next to whom?</vt:lpstr>
      <vt:lpstr>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Papini, Chiara</dc:creator>
  <cp:lastModifiedBy>Poudel, Suresh</cp:lastModifiedBy>
  <cp:revision>12</cp:revision>
  <cp:lastPrinted>2012-12-08T00:03:59Z</cp:lastPrinted>
  <dcterms:created xsi:type="dcterms:W3CDTF">2021-11-23T18:43:44Z</dcterms:created>
  <dcterms:modified xsi:type="dcterms:W3CDTF">2026-03-18T05:23:16Z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0x01010072AED8885AE0D7479959AAF6DF60077D</vt:lpwstr>
  </property>
  <property fmtid="{D5CDD505-2E9C-101B-9397-08002B2CF9AE}" pid="3" name="Document Format">
    <vt:lpwstr>Presentation</vt:lpwstr>
  </property>
</Properties>
</file>