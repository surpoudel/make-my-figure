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0972800" cy="8229600" type="B4JIS"/>
  <p:notesSz cx="7023100" cy="9309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1pPr>
    <a:lvl2pPr marL="65311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2pPr>
    <a:lvl3pPr marL="130622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3pPr>
    <a:lvl4pPr marL="195933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4pPr>
    <a:lvl5pPr marL="261244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5pPr>
    <a:lvl6pPr marL="3265551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6pPr>
    <a:lvl7pPr marL="3918661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7pPr>
    <a:lvl8pPr marL="4571771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8pPr>
    <a:lvl9pPr marL="5224882" algn="l" defTabSz="653110" rtl="0" eaLnBrk="1" latinLnBrk="0" hangingPunct="1">
      <a:defRPr kern="1200">
        <a:solidFill>
          <a:schemeClr val="tx1"/>
        </a:solidFill>
        <a:latin typeface="Arial" charset="-52"/>
        <a:ea typeface="ＭＳ Ｐゴシック" charset="-128"/>
        <a:cs typeface="ＭＳ Ｐゴシック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1325" userDrawn="1">
          <p15:clr>
            <a:srgbClr val="A4A3A4"/>
          </p15:clr>
        </p15:guide>
        <p15:guide id="2" pos="5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1638"/>
    <a:srgbClr val="FBD140"/>
    <a:srgbClr val="EBEBEB"/>
    <a:srgbClr val="E8E8E8"/>
    <a:srgbClr val="A30234"/>
    <a:srgbClr val="E5DBD6"/>
    <a:srgbClr val="76BEC6"/>
    <a:srgbClr val="D9EFFF"/>
    <a:srgbClr val="C10F3A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1325"/>
        <p:guide pos="576"/>
      </p:guideLst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32"/>
        <p:guide pos="2212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3" Type="http://schemas.openxmlformats.org/officeDocument/2006/relationships/handoutMaster" Target="handoutMasters/handout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1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0FF3A3-17C9-1240-B94F-FCB10E11BFA2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2384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2384"/>
            <a:ext cx="3043979" cy="4651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963DA2-9EFE-404A-BC7F-D2149F0832F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5166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1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t" anchorCtr="0" compatLnSpc="1">
            <a:prstTxWarp prst="textNoShape">
              <a:avLst/>
            </a:prstTxWarp>
          </a:bodyPr>
          <a:lstStyle>
            <a:lvl1pPr defTabSz="936625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977531" y="1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t" anchorCtr="0" compatLnSpc="1">
            <a:prstTxWarp prst="textNoShape">
              <a:avLst/>
            </a:prstTxWarp>
          </a:bodyPr>
          <a:lstStyle>
            <a:lvl1pPr algn="r" defTabSz="936625">
              <a:defRPr sz="1200"/>
            </a:lvl1pPr>
          </a:lstStyle>
          <a:p>
            <a:fld id="{F1386A7A-B598-E248-8A09-616560145B06}" type="datetime1">
              <a:rPr lang="en-US"/>
              <a:pPr/>
              <a:t>3/18/2026</a:t>
            </a:fld>
            <a:endParaRPr lang="en-US"/>
          </a:p>
        </p:txBody>
      </p:sp>
      <p:sp>
        <p:nvSpPr>
          <p:cNvPr id="8196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702946" y="4421192"/>
            <a:ext cx="5617208" cy="4189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8842384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b" anchorCtr="0" compatLnSpc="1">
            <a:prstTxWarp prst="textNoShape">
              <a:avLst/>
            </a:prstTxWarp>
          </a:bodyPr>
          <a:lstStyle>
            <a:lvl1pPr defTabSz="936625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977531" y="8842384"/>
            <a:ext cx="3043979" cy="465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616" tIns="46808" rIns="93616" bIns="46808" numCol="1" anchor="b" anchorCtr="0" compatLnSpc="1">
            <a:prstTxWarp prst="textNoShape">
              <a:avLst/>
            </a:prstTxWarp>
          </a:bodyPr>
          <a:lstStyle>
            <a:lvl1pPr algn="r" defTabSz="936625">
              <a:defRPr sz="1200"/>
            </a:lvl1pPr>
          </a:lstStyle>
          <a:p>
            <a:fld id="{608BE082-D1A3-464C-8087-43061B6101C5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689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ＭＳ Ｐゴシック" charset="-128"/>
      </a:defRPr>
    </a:lvl1pPr>
    <a:lvl2pPr marL="653110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1306220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1959331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2612441" algn="l" defTabSz="653110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326555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391866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457177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5224882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B9C628EB-F2F1-B048-8CDF-BD9799727F8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5760" y="1676400"/>
            <a:ext cx="10241280" cy="5943600"/>
          </a:xfrm>
        </p:spPr>
        <p:txBody>
          <a:bodyPr/>
          <a:lstStyle>
            <a:lvl1pPr marL="97967" indent="0">
              <a:defRPr sz="2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30622" indent="0"/>
            <a:r>
              <a:rPr lang="en-US"/>
              <a:t> Slide text here</a:t>
            </a: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2A23BCC5-EED1-1B45-AB9D-6C9518CB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0" y="518160"/>
            <a:ext cx="8915400" cy="853440"/>
          </a:xfrm>
        </p:spPr>
        <p:txBody>
          <a:bodyPr/>
          <a:lstStyle>
            <a:lvl1pPr>
              <a:defRPr sz="24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_Gradient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55C70E5-CBD7-9358-0214-2EA4808CC1D5}"/>
              </a:ext>
            </a:extLst>
          </p:cNvPr>
          <p:cNvGrpSpPr/>
          <p:nvPr userDrawn="1"/>
        </p:nvGrpSpPr>
        <p:grpSpPr>
          <a:xfrm>
            <a:off x="-882" y="0"/>
            <a:ext cx="10981592" cy="8234843"/>
            <a:chOff x="-981" y="-1"/>
            <a:chExt cx="12201769" cy="686236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BEF8962-1B52-B635-C251-3CE959266199}"/>
                </a:ext>
              </a:extLst>
            </p:cNvPr>
            <p:cNvSpPr/>
            <p:nvPr userDrawn="1"/>
          </p:nvSpPr>
          <p:spPr>
            <a:xfrm rot="16200000" flipH="1">
              <a:off x="5090159" y="-5090160"/>
              <a:ext cx="2011680" cy="12191997"/>
            </a:xfrm>
            <a:prstGeom prst="rect">
              <a:avLst/>
            </a:prstGeom>
            <a:gradFill>
              <a:gsLst>
                <a:gs pos="80000">
                  <a:schemeClr val="accent1"/>
                </a:gs>
                <a:gs pos="10000">
                  <a:schemeClr val="accent6"/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Delay 7">
              <a:extLst>
                <a:ext uri="{FF2B5EF4-FFF2-40B4-BE49-F238E27FC236}">
                  <a16:creationId xmlns:a16="http://schemas.microsoft.com/office/drawing/2014/main" id="{EBCA7C79-C2A5-5AC7-3AA9-F70E72B865DC}"/>
                </a:ext>
              </a:extLst>
            </p:cNvPr>
            <p:cNvSpPr/>
            <p:nvPr userDrawn="1"/>
          </p:nvSpPr>
          <p:spPr>
            <a:xfrm rot="5400000" flipH="1">
              <a:off x="3274507" y="-2063914"/>
              <a:ext cx="5650794" cy="12201769"/>
            </a:xfrm>
            <a:custGeom>
              <a:avLst/>
              <a:gdLst>
                <a:gd name="connsiteX0" fmla="*/ 0 w 8248649"/>
                <a:gd name="connsiteY0" fmla="*/ 0 h 6858003"/>
                <a:gd name="connsiteX1" fmla="*/ 4124325 w 8248649"/>
                <a:gd name="connsiteY1" fmla="*/ 0 h 6858003"/>
                <a:gd name="connsiteX2" fmla="*/ 8248650 w 8248649"/>
                <a:gd name="connsiteY2" fmla="*/ 3429002 h 6858003"/>
                <a:gd name="connsiteX3" fmla="*/ 4124325 w 8248649"/>
                <a:gd name="connsiteY3" fmla="*/ 6858004 h 6858003"/>
                <a:gd name="connsiteX4" fmla="*/ 0 w 8248649"/>
                <a:gd name="connsiteY4" fmla="*/ 6858003 h 6858003"/>
                <a:gd name="connsiteX5" fmla="*/ 0 w 8248649"/>
                <a:gd name="connsiteY5" fmla="*/ 0 h 6858003"/>
                <a:gd name="connsiteX0" fmla="*/ 0 w 8509944"/>
                <a:gd name="connsiteY0" fmla="*/ 0 h 6858004"/>
                <a:gd name="connsiteX1" fmla="*/ 6596062 w 8509944"/>
                <a:gd name="connsiteY1" fmla="*/ 0 h 6858004"/>
                <a:gd name="connsiteX2" fmla="*/ 8248650 w 8509944"/>
                <a:gd name="connsiteY2" fmla="*/ 3429002 h 6858004"/>
                <a:gd name="connsiteX3" fmla="*/ 4124325 w 8509944"/>
                <a:gd name="connsiteY3" fmla="*/ 6858004 h 6858004"/>
                <a:gd name="connsiteX4" fmla="*/ 0 w 8509944"/>
                <a:gd name="connsiteY4" fmla="*/ 6858003 h 6858004"/>
                <a:gd name="connsiteX5" fmla="*/ 0 w 8509944"/>
                <a:gd name="connsiteY5" fmla="*/ 0 h 6858004"/>
                <a:gd name="connsiteX0" fmla="*/ 0 w 8742579"/>
                <a:gd name="connsiteY0" fmla="*/ 0 h 6858003"/>
                <a:gd name="connsiteX1" fmla="*/ 6596062 w 8742579"/>
                <a:gd name="connsiteY1" fmla="*/ 0 h 6858003"/>
                <a:gd name="connsiteX2" fmla="*/ 8248650 w 8742579"/>
                <a:gd name="connsiteY2" fmla="*/ 3429002 h 6858003"/>
                <a:gd name="connsiteX3" fmla="*/ 7410450 w 8742579"/>
                <a:gd name="connsiteY3" fmla="*/ 6843716 h 6858003"/>
                <a:gd name="connsiteX4" fmla="*/ 0 w 8742579"/>
                <a:gd name="connsiteY4" fmla="*/ 6858003 h 6858003"/>
                <a:gd name="connsiteX5" fmla="*/ 0 w 8742579"/>
                <a:gd name="connsiteY5" fmla="*/ 0 h 6858003"/>
                <a:gd name="connsiteX0" fmla="*/ 0 w 8267077"/>
                <a:gd name="connsiteY0" fmla="*/ 0 h 6858003"/>
                <a:gd name="connsiteX1" fmla="*/ 6596062 w 8267077"/>
                <a:gd name="connsiteY1" fmla="*/ 0 h 6858003"/>
                <a:gd name="connsiteX2" fmla="*/ 8248650 w 8267077"/>
                <a:gd name="connsiteY2" fmla="*/ 3429002 h 6858003"/>
                <a:gd name="connsiteX3" fmla="*/ 7410450 w 8267077"/>
                <a:gd name="connsiteY3" fmla="*/ 6843716 h 6858003"/>
                <a:gd name="connsiteX4" fmla="*/ 0 w 8267077"/>
                <a:gd name="connsiteY4" fmla="*/ 6858003 h 6858003"/>
                <a:gd name="connsiteX5" fmla="*/ 0 w 8267077"/>
                <a:gd name="connsiteY5" fmla="*/ 0 h 6858003"/>
                <a:gd name="connsiteX0" fmla="*/ 0 w 8262050"/>
                <a:gd name="connsiteY0" fmla="*/ 0 h 6858003"/>
                <a:gd name="connsiteX1" fmla="*/ 6596062 w 8262050"/>
                <a:gd name="connsiteY1" fmla="*/ 0 h 6858003"/>
                <a:gd name="connsiteX2" fmla="*/ 8248650 w 8262050"/>
                <a:gd name="connsiteY2" fmla="*/ 3429002 h 6858003"/>
                <a:gd name="connsiteX3" fmla="*/ 7410450 w 8262050"/>
                <a:gd name="connsiteY3" fmla="*/ 6843716 h 6858003"/>
                <a:gd name="connsiteX4" fmla="*/ 0 w 8262050"/>
                <a:gd name="connsiteY4" fmla="*/ 6858003 h 6858003"/>
                <a:gd name="connsiteX5" fmla="*/ 0 w 8262050"/>
                <a:gd name="connsiteY5" fmla="*/ 0 h 6858003"/>
                <a:gd name="connsiteX0" fmla="*/ 0 w 8262050"/>
                <a:gd name="connsiteY0" fmla="*/ 0 h 6858003"/>
                <a:gd name="connsiteX1" fmla="*/ 6596062 w 8262050"/>
                <a:gd name="connsiteY1" fmla="*/ 0 h 6858003"/>
                <a:gd name="connsiteX2" fmla="*/ 8248650 w 8262050"/>
                <a:gd name="connsiteY2" fmla="*/ 3429002 h 6858003"/>
                <a:gd name="connsiteX3" fmla="*/ 7410450 w 8262050"/>
                <a:gd name="connsiteY3" fmla="*/ 6843716 h 6858003"/>
                <a:gd name="connsiteX4" fmla="*/ 0 w 8262050"/>
                <a:gd name="connsiteY4" fmla="*/ 6858003 h 6858003"/>
                <a:gd name="connsiteX5" fmla="*/ 0 w 8262050"/>
                <a:gd name="connsiteY5" fmla="*/ 0 h 6858003"/>
                <a:gd name="connsiteX0" fmla="*/ 0 w 8267413"/>
                <a:gd name="connsiteY0" fmla="*/ 0 h 6858003"/>
                <a:gd name="connsiteX1" fmla="*/ 6596062 w 8267413"/>
                <a:gd name="connsiteY1" fmla="*/ 0 h 6858003"/>
                <a:gd name="connsiteX2" fmla="*/ 8248650 w 8267413"/>
                <a:gd name="connsiteY2" fmla="*/ 3429002 h 6858003"/>
                <a:gd name="connsiteX3" fmla="*/ 7410450 w 8267413"/>
                <a:gd name="connsiteY3" fmla="*/ 6843716 h 6858003"/>
                <a:gd name="connsiteX4" fmla="*/ 0 w 8267413"/>
                <a:gd name="connsiteY4" fmla="*/ 6858003 h 6858003"/>
                <a:gd name="connsiteX5" fmla="*/ 0 w 8267413"/>
                <a:gd name="connsiteY5" fmla="*/ 0 h 6858003"/>
                <a:gd name="connsiteX0" fmla="*/ 0 w 8266010"/>
                <a:gd name="connsiteY0" fmla="*/ 14288 h 6872291"/>
                <a:gd name="connsiteX1" fmla="*/ 6467474 w 8266010"/>
                <a:gd name="connsiteY1" fmla="*/ 0 h 6872291"/>
                <a:gd name="connsiteX2" fmla="*/ 8248650 w 8266010"/>
                <a:gd name="connsiteY2" fmla="*/ 3443290 h 6872291"/>
                <a:gd name="connsiteX3" fmla="*/ 7410450 w 8266010"/>
                <a:gd name="connsiteY3" fmla="*/ 6858004 h 6872291"/>
                <a:gd name="connsiteX4" fmla="*/ 0 w 8266010"/>
                <a:gd name="connsiteY4" fmla="*/ 6872291 h 6872291"/>
                <a:gd name="connsiteX5" fmla="*/ 0 w 8266010"/>
                <a:gd name="connsiteY5" fmla="*/ 14288 h 6872291"/>
                <a:gd name="connsiteX0" fmla="*/ 0 w 8262897"/>
                <a:gd name="connsiteY0" fmla="*/ 0 h 6858003"/>
                <a:gd name="connsiteX1" fmla="*/ 6567486 w 8262897"/>
                <a:gd name="connsiteY1" fmla="*/ 0 h 6858003"/>
                <a:gd name="connsiteX2" fmla="*/ 8248650 w 8262897"/>
                <a:gd name="connsiteY2" fmla="*/ 3429002 h 6858003"/>
                <a:gd name="connsiteX3" fmla="*/ 7410450 w 8262897"/>
                <a:gd name="connsiteY3" fmla="*/ 6843716 h 6858003"/>
                <a:gd name="connsiteX4" fmla="*/ 0 w 8262897"/>
                <a:gd name="connsiteY4" fmla="*/ 6858003 h 6858003"/>
                <a:gd name="connsiteX5" fmla="*/ 0 w 8262897"/>
                <a:gd name="connsiteY5" fmla="*/ 0 h 6858003"/>
                <a:gd name="connsiteX0" fmla="*/ 0 w 8277713"/>
                <a:gd name="connsiteY0" fmla="*/ 0 h 6858003"/>
                <a:gd name="connsiteX1" fmla="*/ 6567486 w 8277713"/>
                <a:gd name="connsiteY1" fmla="*/ 0 h 6858003"/>
                <a:gd name="connsiteX2" fmla="*/ 8248650 w 8277713"/>
                <a:gd name="connsiteY2" fmla="*/ 3429002 h 6858003"/>
                <a:gd name="connsiteX3" fmla="*/ 7410450 w 8277713"/>
                <a:gd name="connsiteY3" fmla="*/ 6843716 h 6858003"/>
                <a:gd name="connsiteX4" fmla="*/ 0 w 8277713"/>
                <a:gd name="connsiteY4" fmla="*/ 6858003 h 6858003"/>
                <a:gd name="connsiteX5" fmla="*/ 0 w 8277713"/>
                <a:gd name="connsiteY5" fmla="*/ 0 h 6858003"/>
                <a:gd name="connsiteX0" fmla="*/ 0 w 8263787"/>
                <a:gd name="connsiteY0" fmla="*/ 0 h 6858003"/>
                <a:gd name="connsiteX1" fmla="*/ 6567486 w 8263787"/>
                <a:gd name="connsiteY1" fmla="*/ 0 h 6858003"/>
                <a:gd name="connsiteX2" fmla="*/ 8234362 w 8263787"/>
                <a:gd name="connsiteY2" fmla="*/ 3271840 h 6858003"/>
                <a:gd name="connsiteX3" fmla="*/ 7410450 w 8263787"/>
                <a:gd name="connsiteY3" fmla="*/ 6843716 h 6858003"/>
                <a:gd name="connsiteX4" fmla="*/ 0 w 8263787"/>
                <a:gd name="connsiteY4" fmla="*/ 6858003 h 6858003"/>
                <a:gd name="connsiteX5" fmla="*/ 0 w 8263787"/>
                <a:gd name="connsiteY5" fmla="*/ 0 h 6858003"/>
                <a:gd name="connsiteX0" fmla="*/ 0 w 8257351"/>
                <a:gd name="connsiteY0" fmla="*/ 0 h 6858003"/>
                <a:gd name="connsiteX1" fmla="*/ 6567486 w 8257351"/>
                <a:gd name="connsiteY1" fmla="*/ 0 h 6858003"/>
                <a:gd name="connsiteX2" fmla="*/ 8234362 w 8257351"/>
                <a:gd name="connsiteY2" fmla="*/ 3271840 h 6858003"/>
                <a:gd name="connsiteX3" fmla="*/ 7410450 w 8257351"/>
                <a:gd name="connsiteY3" fmla="*/ 6843716 h 6858003"/>
                <a:gd name="connsiteX4" fmla="*/ 0 w 8257351"/>
                <a:gd name="connsiteY4" fmla="*/ 6858003 h 6858003"/>
                <a:gd name="connsiteX5" fmla="*/ 0 w 8257351"/>
                <a:gd name="connsiteY5" fmla="*/ 0 h 6858003"/>
                <a:gd name="connsiteX0" fmla="*/ 0 w 8327385"/>
                <a:gd name="connsiteY0" fmla="*/ 0 h 6858003"/>
                <a:gd name="connsiteX1" fmla="*/ 6567486 w 8327385"/>
                <a:gd name="connsiteY1" fmla="*/ 0 h 6858003"/>
                <a:gd name="connsiteX2" fmla="*/ 8305799 w 8327385"/>
                <a:gd name="connsiteY2" fmla="*/ 3286128 h 6858003"/>
                <a:gd name="connsiteX3" fmla="*/ 7410450 w 8327385"/>
                <a:gd name="connsiteY3" fmla="*/ 6843716 h 6858003"/>
                <a:gd name="connsiteX4" fmla="*/ 0 w 8327385"/>
                <a:gd name="connsiteY4" fmla="*/ 6858003 h 6858003"/>
                <a:gd name="connsiteX5" fmla="*/ 0 w 8327385"/>
                <a:gd name="connsiteY5" fmla="*/ 0 h 6858003"/>
                <a:gd name="connsiteX0" fmla="*/ 0 w 8314761"/>
                <a:gd name="connsiteY0" fmla="*/ 0 h 6858003"/>
                <a:gd name="connsiteX1" fmla="*/ 6567486 w 8314761"/>
                <a:gd name="connsiteY1" fmla="*/ 0 h 6858003"/>
                <a:gd name="connsiteX2" fmla="*/ 8305799 w 8314761"/>
                <a:gd name="connsiteY2" fmla="*/ 3286128 h 6858003"/>
                <a:gd name="connsiteX3" fmla="*/ 7410450 w 8314761"/>
                <a:gd name="connsiteY3" fmla="*/ 6843716 h 6858003"/>
                <a:gd name="connsiteX4" fmla="*/ 0 w 8314761"/>
                <a:gd name="connsiteY4" fmla="*/ 6858003 h 6858003"/>
                <a:gd name="connsiteX5" fmla="*/ 0 w 8314761"/>
                <a:gd name="connsiteY5" fmla="*/ 0 h 6858003"/>
                <a:gd name="connsiteX0" fmla="*/ 0 w 8379458"/>
                <a:gd name="connsiteY0" fmla="*/ 0 h 6858003"/>
                <a:gd name="connsiteX1" fmla="*/ 6567486 w 8379458"/>
                <a:gd name="connsiteY1" fmla="*/ 0 h 6858003"/>
                <a:gd name="connsiteX2" fmla="*/ 8305799 w 8379458"/>
                <a:gd name="connsiteY2" fmla="*/ 3286128 h 6858003"/>
                <a:gd name="connsiteX3" fmla="*/ 8061081 w 8379458"/>
                <a:gd name="connsiteY3" fmla="*/ 6853607 h 6858003"/>
                <a:gd name="connsiteX4" fmla="*/ 0 w 8379458"/>
                <a:gd name="connsiteY4" fmla="*/ 6858003 h 6858003"/>
                <a:gd name="connsiteX5" fmla="*/ 0 w 8379458"/>
                <a:gd name="connsiteY5" fmla="*/ 0 h 6858003"/>
                <a:gd name="connsiteX0" fmla="*/ 0 w 8312730"/>
                <a:gd name="connsiteY0" fmla="*/ 4946 h 6862949"/>
                <a:gd name="connsiteX1" fmla="*/ 7745655 w 8312730"/>
                <a:gd name="connsiteY1" fmla="*/ 0 h 6862949"/>
                <a:gd name="connsiteX2" fmla="*/ 8305799 w 8312730"/>
                <a:gd name="connsiteY2" fmla="*/ 3291074 h 6862949"/>
                <a:gd name="connsiteX3" fmla="*/ 8061081 w 8312730"/>
                <a:gd name="connsiteY3" fmla="*/ 6858553 h 6862949"/>
                <a:gd name="connsiteX4" fmla="*/ 0 w 8312730"/>
                <a:gd name="connsiteY4" fmla="*/ 6862949 h 6862949"/>
                <a:gd name="connsiteX5" fmla="*/ 0 w 8312730"/>
                <a:gd name="connsiteY5" fmla="*/ 4946 h 6862949"/>
                <a:gd name="connsiteX0" fmla="*/ 3886196 w 8312730"/>
                <a:gd name="connsiteY0" fmla="*/ 74184 h 6862949"/>
                <a:gd name="connsiteX1" fmla="*/ 7745655 w 8312730"/>
                <a:gd name="connsiteY1" fmla="*/ 0 h 6862949"/>
                <a:gd name="connsiteX2" fmla="*/ 8305799 w 8312730"/>
                <a:gd name="connsiteY2" fmla="*/ 3291074 h 6862949"/>
                <a:gd name="connsiteX3" fmla="*/ 8061081 w 8312730"/>
                <a:gd name="connsiteY3" fmla="*/ 6858553 h 6862949"/>
                <a:gd name="connsiteX4" fmla="*/ 0 w 8312730"/>
                <a:gd name="connsiteY4" fmla="*/ 6862949 h 6862949"/>
                <a:gd name="connsiteX5" fmla="*/ 3886196 w 8312730"/>
                <a:gd name="connsiteY5" fmla="*/ 74184 h 6862949"/>
                <a:gd name="connsiteX0" fmla="*/ 2743193 w 8312730"/>
                <a:gd name="connsiteY0" fmla="*/ 4944 h 6862949"/>
                <a:gd name="connsiteX1" fmla="*/ 7745655 w 8312730"/>
                <a:gd name="connsiteY1" fmla="*/ 0 h 6862949"/>
                <a:gd name="connsiteX2" fmla="*/ 8305799 w 8312730"/>
                <a:gd name="connsiteY2" fmla="*/ 3291074 h 6862949"/>
                <a:gd name="connsiteX3" fmla="*/ 8061081 w 8312730"/>
                <a:gd name="connsiteY3" fmla="*/ 6858553 h 6862949"/>
                <a:gd name="connsiteX4" fmla="*/ 0 w 8312730"/>
                <a:gd name="connsiteY4" fmla="*/ 6862949 h 6862949"/>
                <a:gd name="connsiteX5" fmla="*/ 2743193 w 8312730"/>
                <a:gd name="connsiteY5" fmla="*/ 4944 h 6862949"/>
                <a:gd name="connsiteX0" fmla="*/ 0 w 5569537"/>
                <a:gd name="connsiteY0" fmla="*/ 4944 h 6858553"/>
                <a:gd name="connsiteX1" fmla="*/ 5002462 w 5569537"/>
                <a:gd name="connsiteY1" fmla="*/ 0 h 6858553"/>
                <a:gd name="connsiteX2" fmla="*/ 5562606 w 5569537"/>
                <a:gd name="connsiteY2" fmla="*/ 3291074 h 6858553"/>
                <a:gd name="connsiteX3" fmla="*/ 5317888 w 5569537"/>
                <a:gd name="connsiteY3" fmla="*/ 6858553 h 6858553"/>
                <a:gd name="connsiteX4" fmla="*/ 1626584 w 5569537"/>
                <a:gd name="connsiteY4" fmla="*/ 6679959 h 6858553"/>
                <a:gd name="connsiteX5" fmla="*/ 0 w 5569537"/>
                <a:gd name="connsiteY5" fmla="*/ 4944 h 6858553"/>
                <a:gd name="connsiteX0" fmla="*/ 0 w 5569537"/>
                <a:gd name="connsiteY0" fmla="*/ 4944 h 6862950"/>
                <a:gd name="connsiteX1" fmla="*/ 5002462 w 5569537"/>
                <a:gd name="connsiteY1" fmla="*/ 0 h 6862950"/>
                <a:gd name="connsiteX2" fmla="*/ 5562606 w 5569537"/>
                <a:gd name="connsiteY2" fmla="*/ 3291074 h 6862950"/>
                <a:gd name="connsiteX3" fmla="*/ 5317888 w 5569537"/>
                <a:gd name="connsiteY3" fmla="*/ 6858553 h 6862950"/>
                <a:gd name="connsiteX4" fmla="*/ 7 w 5569537"/>
                <a:gd name="connsiteY4" fmla="*/ 6862950 h 6862950"/>
                <a:gd name="connsiteX5" fmla="*/ 0 w 5569537"/>
                <a:gd name="connsiteY5" fmla="*/ 4944 h 6862950"/>
                <a:gd name="connsiteX0" fmla="*/ 0 w 5569537"/>
                <a:gd name="connsiteY0" fmla="*/ 4944 h 6863499"/>
                <a:gd name="connsiteX1" fmla="*/ 5002462 w 5569537"/>
                <a:gd name="connsiteY1" fmla="*/ 0 h 6863499"/>
                <a:gd name="connsiteX2" fmla="*/ 5562606 w 5569537"/>
                <a:gd name="connsiteY2" fmla="*/ 3291074 h 6863499"/>
                <a:gd name="connsiteX3" fmla="*/ 5317888 w 5569537"/>
                <a:gd name="connsiteY3" fmla="*/ 6863499 h 6863499"/>
                <a:gd name="connsiteX4" fmla="*/ 7 w 5569537"/>
                <a:gd name="connsiteY4" fmla="*/ 6862950 h 6863499"/>
                <a:gd name="connsiteX5" fmla="*/ 0 w 5569537"/>
                <a:gd name="connsiteY5" fmla="*/ 4944 h 6863499"/>
                <a:gd name="connsiteX0" fmla="*/ 0 w 5571601"/>
                <a:gd name="connsiteY0" fmla="*/ 4944 h 6863499"/>
                <a:gd name="connsiteX1" fmla="*/ 5002462 w 5571601"/>
                <a:gd name="connsiteY1" fmla="*/ 0 h 6863499"/>
                <a:gd name="connsiteX2" fmla="*/ 5562606 w 5571601"/>
                <a:gd name="connsiteY2" fmla="*/ 3291074 h 6863499"/>
                <a:gd name="connsiteX3" fmla="*/ 5317888 w 5571601"/>
                <a:gd name="connsiteY3" fmla="*/ 6863499 h 6863499"/>
                <a:gd name="connsiteX4" fmla="*/ 7 w 5571601"/>
                <a:gd name="connsiteY4" fmla="*/ 6862950 h 6863499"/>
                <a:gd name="connsiteX5" fmla="*/ 0 w 5571601"/>
                <a:gd name="connsiteY5" fmla="*/ 4944 h 6863499"/>
                <a:gd name="connsiteX0" fmla="*/ 0 w 5605868"/>
                <a:gd name="connsiteY0" fmla="*/ 4944 h 6863499"/>
                <a:gd name="connsiteX1" fmla="*/ 5002462 w 5605868"/>
                <a:gd name="connsiteY1" fmla="*/ 0 h 6863499"/>
                <a:gd name="connsiteX2" fmla="*/ 5597775 w 5605868"/>
                <a:gd name="connsiteY2" fmla="*/ 3271292 h 6863499"/>
                <a:gd name="connsiteX3" fmla="*/ 5317888 w 5605868"/>
                <a:gd name="connsiteY3" fmla="*/ 6863499 h 6863499"/>
                <a:gd name="connsiteX4" fmla="*/ 7 w 5605868"/>
                <a:gd name="connsiteY4" fmla="*/ 6862950 h 6863499"/>
                <a:gd name="connsiteX5" fmla="*/ 0 w 5605868"/>
                <a:gd name="connsiteY5" fmla="*/ 4944 h 6863499"/>
                <a:gd name="connsiteX0" fmla="*/ 0 w 5607921"/>
                <a:gd name="connsiteY0" fmla="*/ 4944 h 6863499"/>
                <a:gd name="connsiteX1" fmla="*/ 5002462 w 5607921"/>
                <a:gd name="connsiteY1" fmla="*/ 0 h 6863499"/>
                <a:gd name="connsiteX2" fmla="*/ 5597775 w 5607921"/>
                <a:gd name="connsiteY2" fmla="*/ 3271292 h 6863499"/>
                <a:gd name="connsiteX3" fmla="*/ 5317888 w 5607921"/>
                <a:gd name="connsiteY3" fmla="*/ 6863499 h 6863499"/>
                <a:gd name="connsiteX4" fmla="*/ 7 w 5607921"/>
                <a:gd name="connsiteY4" fmla="*/ 6862950 h 6863499"/>
                <a:gd name="connsiteX5" fmla="*/ 0 w 5607921"/>
                <a:gd name="connsiteY5" fmla="*/ 4944 h 6863499"/>
                <a:gd name="connsiteX0" fmla="*/ 0 w 5650794"/>
                <a:gd name="connsiteY0" fmla="*/ 4944 h 6863499"/>
                <a:gd name="connsiteX1" fmla="*/ 5002462 w 5650794"/>
                <a:gd name="connsiteY1" fmla="*/ 0 h 6863499"/>
                <a:gd name="connsiteX2" fmla="*/ 5641737 w 5650794"/>
                <a:gd name="connsiteY2" fmla="*/ 3246563 h 6863499"/>
                <a:gd name="connsiteX3" fmla="*/ 5317888 w 5650794"/>
                <a:gd name="connsiteY3" fmla="*/ 6863499 h 6863499"/>
                <a:gd name="connsiteX4" fmla="*/ 7 w 5650794"/>
                <a:gd name="connsiteY4" fmla="*/ 6862950 h 6863499"/>
                <a:gd name="connsiteX5" fmla="*/ 0 w 5650794"/>
                <a:gd name="connsiteY5" fmla="*/ 4944 h 6863499"/>
                <a:gd name="connsiteX0" fmla="*/ 0 w 5650794"/>
                <a:gd name="connsiteY0" fmla="*/ 4944 h 6863499"/>
                <a:gd name="connsiteX1" fmla="*/ 5002462 w 5650794"/>
                <a:gd name="connsiteY1" fmla="*/ 0 h 6863499"/>
                <a:gd name="connsiteX2" fmla="*/ 5641737 w 5650794"/>
                <a:gd name="connsiteY2" fmla="*/ 3246563 h 6863499"/>
                <a:gd name="connsiteX3" fmla="*/ 5317888 w 5650794"/>
                <a:gd name="connsiteY3" fmla="*/ 6863499 h 6863499"/>
                <a:gd name="connsiteX4" fmla="*/ 7 w 5650794"/>
                <a:gd name="connsiteY4" fmla="*/ 6862950 h 6863499"/>
                <a:gd name="connsiteX5" fmla="*/ 0 w 5650794"/>
                <a:gd name="connsiteY5" fmla="*/ 4944 h 686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50794" h="6863499">
                  <a:moveTo>
                    <a:pt x="0" y="4944"/>
                  </a:moveTo>
                  <a:lnTo>
                    <a:pt x="5002462" y="0"/>
                  </a:lnTo>
                  <a:cubicBezTo>
                    <a:pt x="5051414" y="14287"/>
                    <a:pt x="5571582" y="1454762"/>
                    <a:pt x="5641737" y="3246563"/>
                  </a:cubicBezTo>
                  <a:cubicBezTo>
                    <a:pt x="5711892" y="5038364"/>
                    <a:pt x="5352553" y="6834924"/>
                    <a:pt x="5317888" y="6863499"/>
                  </a:cubicBezTo>
                  <a:lnTo>
                    <a:pt x="7" y="6862950"/>
                  </a:lnTo>
                  <a:cubicBezTo>
                    <a:pt x="5" y="4576948"/>
                    <a:pt x="2" y="2290946"/>
                    <a:pt x="0" y="494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E1AD03-F106-347B-09A7-637BA5C3E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9694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/>
            </a:gs>
            <a:gs pos="100000">
              <a:schemeClr val="accent3">
                <a:lumMod val="85000"/>
              </a:schemeClr>
            </a:gs>
          </a:gsLst>
          <a:lin ang="16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743200" y="731520"/>
            <a:ext cx="786384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130622" tIns="65311" rIns="130622" bIns="6531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48640" y="2743200"/>
            <a:ext cx="9966960" cy="3840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130622" tIns="65311" rIns="130622" bIns="6531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/>
          <a:ea typeface="ＭＳ Ｐゴシック" pitchFamily="-107" charset="-128"/>
          <a:cs typeface="Georgia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Georgia" charset="0"/>
          <a:ea typeface="ＭＳ Ｐゴシック" pitchFamily="-107" charset="-128"/>
          <a:cs typeface="Georgia" pitchFamily="-65" charset="0"/>
        </a:defRPr>
      </a:lvl5pPr>
      <a:lvl6pPr marL="489833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6pPr>
      <a:lvl7pPr marL="979665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7pPr>
      <a:lvl8pPr marL="1469498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8pPr>
      <a:lvl9pPr marL="1959331" algn="l" rtl="0" eaLnBrk="1" fontAlgn="base" hangingPunct="1">
        <a:spcBef>
          <a:spcPct val="0"/>
        </a:spcBef>
        <a:spcAft>
          <a:spcPct val="0"/>
        </a:spcAft>
        <a:defRPr sz="3450" b="1">
          <a:solidFill>
            <a:srgbClr val="931638"/>
          </a:solidFill>
          <a:latin typeface="Arial" pitchFamily="-111" charset="0"/>
        </a:defRPr>
      </a:lvl9pPr>
    </p:titleStyle>
    <p:bodyStyle>
      <a:lvl1pPr marL="367375" indent="-367375" algn="l" rtl="0" eaLnBrk="1" fontAlgn="base" hangingPunct="1">
        <a:spcBef>
          <a:spcPct val="20000"/>
        </a:spcBef>
        <a:spcAft>
          <a:spcPct val="0"/>
        </a:spcAft>
        <a:buChar char="•"/>
        <a:defRPr sz="3000">
          <a:solidFill>
            <a:schemeClr val="tx1"/>
          </a:solidFill>
          <a:latin typeface="Georgia"/>
          <a:ea typeface="ＭＳ Ｐゴシック" pitchFamily="-107" charset="-128"/>
          <a:cs typeface="Georgia"/>
        </a:defRPr>
      </a:lvl1pPr>
      <a:lvl2pPr marL="795978" indent="-306146" algn="l" rtl="0" eaLnBrk="1" fontAlgn="base" hangingPunct="1">
        <a:spcBef>
          <a:spcPct val="20000"/>
        </a:spcBef>
        <a:spcAft>
          <a:spcPct val="0"/>
        </a:spcAft>
        <a:buChar char="–"/>
        <a:defRPr sz="2325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2pPr>
      <a:lvl3pPr marL="1224582" indent="-244916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3pPr>
      <a:lvl4pPr marL="1714415" indent="-244916" algn="l" rtl="0" eaLnBrk="1" fontAlgn="base" hangingPunct="1">
        <a:spcBef>
          <a:spcPct val="20000"/>
        </a:spcBef>
        <a:spcAft>
          <a:spcPct val="0"/>
        </a:spcAft>
        <a:buChar char="–"/>
        <a:defRPr sz="1275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4pPr>
      <a:lvl5pPr marL="2204247" indent="-244916" algn="l" rtl="0" eaLnBrk="1" fontAlgn="base" hangingPunct="1">
        <a:spcBef>
          <a:spcPct val="20000"/>
        </a:spcBef>
        <a:spcAft>
          <a:spcPct val="0"/>
        </a:spcAft>
        <a:buChar char="»"/>
        <a:defRPr sz="1050">
          <a:solidFill>
            <a:schemeClr val="tx1"/>
          </a:solidFill>
          <a:latin typeface="Georgia"/>
          <a:ea typeface="ＭＳ Ｐゴシック" pitchFamily="-111" charset="-128"/>
          <a:cs typeface="Georgia"/>
        </a:defRPr>
      </a:lvl5pPr>
      <a:lvl6pPr marL="2694080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6pPr>
      <a:lvl7pPr marL="3183912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7pPr>
      <a:lvl8pPr marL="3673745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8pPr>
      <a:lvl9pPr marL="4163578" indent="-244916" algn="l" rtl="0" eaLnBrk="1" fontAlgn="base" hangingPunct="1">
        <a:spcBef>
          <a:spcPct val="20000"/>
        </a:spcBef>
        <a:spcAft>
          <a:spcPct val="0"/>
        </a:spcAft>
        <a:buChar char="»"/>
        <a:defRPr sz="2175">
          <a:solidFill>
            <a:schemeClr val="tx1"/>
          </a:solidFill>
          <a:latin typeface="+mn-lt"/>
          <a:ea typeface="ＭＳ Ｐゴシック" pitchFamily="-111" charset="-128"/>
        </a:defRPr>
      </a:lvl9pPr>
    </p:bodyStyle>
    <p:otherStyle>
      <a:defPPr>
        <a:defRPr lang="en-US"/>
      </a:defPPr>
      <a:lvl1pPr marL="0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89833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79665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69498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59331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49163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38996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8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18662" algn="l" defTabSz="489833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33.png"/><Relationship Id="rId16" Type="http://schemas.openxmlformats.org/officeDocument/2006/relationships/image" Target="../media/image34.png"/><Relationship Id="rId17" Type="http://schemas.openxmlformats.org/officeDocument/2006/relationships/image" Target="../media/image35.png"/><Relationship Id="rId18" Type="http://schemas.openxmlformats.org/officeDocument/2006/relationships/image" Target="../media/image36.png"/><Relationship Id="rId19" Type="http://schemas.openxmlformats.org/officeDocument/2006/relationships/image" Target="../media/image37.png"/><Relationship Id="rId20" Type="http://schemas.openxmlformats.org/officeDocument/2006/relationships/image" Target="../media/image38.png"/><Relationship Id="rId21" Type="http://schemas.openxmlformats.org/officeDocument/2006/relationships/image" Target="../media/image39.png"/><Relationship Id="rId22" Type="http://schemas.openxmlformats.org/officeDocument/2006/relationships/image" Target="../media/image40.png"/><Relationship Id="rId23" Type="http://schemas.openxmlformats.org/officeDocument/2006/relationships/image" Target="../media/image41.png"/><Relationship Id="rId24" Type="http://schemas.openxmlformats.org/officeDocument/2006/relationships/image" Target="../media/image42.png"/><Relationship Id="rId25" Type="http://schemas.openxmlformats.org/officeDocument/2006/relationships/image" Target="../media/image43.png"/><Relationship Id="rId26" Type="http://schemas.openxmlformats.org/officeDocument/2006/relationships/image" Target="../media/image44.png"/><Relationship Id="rId27" Type="http://schemas.openxmlformats.org/officeDocument/2006/relationships/image" Target="../media/image45.png"/><Relationship Id="rId28" Type="http://schemas.openxmlformats.org/officeDocument/2006/relationships/image" Target="../media/image46.png"/><Relationship Id="rId29" Type="http://schemas.openxmlformats.org/officeDocument/2006/relationships/image" Target="../media/image47.png"/><Relationship Id="rId30" Type="http://schemas.openxmlformats.org/officeDocument/2006/relationships/image" Target="../media/image48.png"/><Relationship Id="rId31" Type="http://schemas.openxmlformats.org/officeDocument/2006/relationships/image" Target="../media/image49.png"/><Relationship Id="rId32" Type="http://schemas.openxmlformats.org/officeDocument/2006/relationships/image" Target="../media/image50.png"/><Relationship Id="rId33" Type="http://schemas.openxmlformats.org/officeDocument/2006/relationships/image" Target="../media/image51.png"/><Relationship Id="rId34" Type="http://schemas.openxmlformats.org/officeDocument/2006/relationships/image" Target="../media/image52.png"/><Relationship Id="rId35" Type="http://schemas.openxmlformats.org/officeDocument/2006/relationships/image" Target="../media/image53.png"/><Relationship Id="rId36" Type="http://schemas.openxmlformats.org/officeDocument/2006/relationships/image" Target="../media/image54.png"/><Relationship Id="rId37" Type="http://schemas.openxmlformats.org/officeDocument/2006/relationships/image" Target="../media/image55.png"/><Relationship Id="rId38" Type="http://schemas.openxmlformats.org/officeDocument/2006/relationships/image" Target="../media/image56.png"/><Relationship Id="rId39" Type="http://schemas.openxmlformats.org/officeDocument/2006/relationships/image" Target="../media/image57.png"/><Relationship Id="rId40" Type="http://schemas.openxmlformats.org/officeDocument/2006/relationships/image" Target="../media/image5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2880360"/>
            <a:ext cx="7863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Make My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3886200"/>
            <a:ext cx="78638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Arial"/>
              </a:rPr>
              <a:t>From an ordinary data table to a publication figure, with the researcher in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806440"/>
            <a:ext cx="78638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F2937"/>
                </a:solidFill>
                <a:latin typeface="Arial"/>
              </a:rPr>
              <a:t>Desktop tutorial and demonstration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F2937"/>
                </a:solidFill>
                <a:latin typeface="Arial"/>
              </a:rPr>
              <a:t>Version 1.1.1  -  39 plot types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F2937"/>
                </a:solidFill>
                <a:latin typeface="Arial"/>
              </a:rPr>
              <a:t>Suresh Poudel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The problem this solves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5669280" cy="5486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Figures are made from tables whose columns were never named for a plotting program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Every figure type needs its own script, style and statistics call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Six months later nobody can say which file, which cut-off and which test produced the panel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Journals ask for editable vector files, exact P values and a methods sentence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• What a scientist actually wants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– open the table, say what each column means, pick the figure, add the test, keep the record</a:t>
            </a:r>
          </a:p>
        </p:txBody>
      </p:sp>
      <p:pic>
        <p:nvPicPr>
          <p:cNvPr id="4" name="Picture 3" descr="01b_data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90344"/>
            <a:ext cx="4206240" cy="505712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0" y="35204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A real table: col_A, measurement_2, condition_code, thing ...</a:t>
            </a:r>
          </a:p>
        </p:txBody>
      </p:sp>
      <p:pic>
        <p:nvPicPr>
          <p:cNvPr id="6" name="Picture 5" descr="06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236407"/>
            <a:ext cx="4206240" cy="2865746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0" y="726948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... and the figure it became, without renaming a column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What Make My Figure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5120640" cy="5852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111111"/>
                </a:solidFill>
                <a:latin typeface="Arial"/>
              </a:rPr>
              <a:t>• A desktop application (and a browser version) that draws 39 publication-style plot types from CSV, TSV and Excel tables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111111"/>
                </a:solidFill>
                <a:latin typeface="Arial"/>
              </a:rPr>
              <a:t>• Runs entirely on your computer: no upload, no account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111111"/>
                </a:solidFill>
                <a:latin typeface="Arial"/>
              </a:rPr>
              <a:t>• One Publication style; fonts, colours, layout, legend under your control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111111"/>
                </a:solidFill>
                <a:latin typeface="Arial"/>
              </a:rPr>
              <a:t>• Statistics on the figure: 19 tests, corrections, brackets, effect sizes, a methods sentence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111111"/>
                </a:solidFill>
                <a:latin typeface="Arial"/>
              </a:rPr>
              <a:t>• Reproducibility built in: PlotSpec, StatsSpec, Figure Package (.mmfpackage) with frozen data and checksums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111111"/>
                </a:solidFill>
                <a:latin typeface="Arial"/>
              </a:rPr>
              <a:t>• Multi-panel Figure Builder with panel letters and common fonts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0">
                <a:solidFill>
                  <a:srgbClr val="111111"/>
                </a:solidFill>
                <a:latin typeface="Arial"/>
              </a:rPr>
              <a:t>• Open source, Python, Matplotlib and Qt; desktop installers for Windows, macOS and Linux</a:t>
            </a:r>
          </a:p>
        </p:txBody>
      </p:sp>
      <p:pic>
        <p:nvPicPr>
          <p:cNvPr id="4" name="Picture 3" descr="04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940923"/>
            <a:ext cx="4846320" cy="2884714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852160" y="489204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The workspace: controls left, data and live figure right</a:t>
            </a:r>
          </a:p>
        </p:txBody>
      </p:sp>
      <p:pic>
        <p:nvPicPr>
          <p:cNvPr id="6" name="Picture 5" descr="getting_started_01_start_screen_300_2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5503333"/>
            <a:ext cx="4846320" cy="1794933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852160" y="749808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Start screen: open a file, a package, an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Design principle: the application suggests, the researcher decides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3200400" cy="40233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D4E89"/>
                </a:solidFill>
                <a:latin typeface="Arial"/>
              </a:rPr>
              <a:t>It proposes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283464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Arial"/>
              </a:rPr>
              <a:t>Detects column types, recommends figures with a match score, proposes a column for every role, suggests a test from the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40" y="2011680"/>
            <a:ext cx="3200400" cy="40233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19456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D4E89"/>
                </a:solidFill>
                <a:latin typeface="Arial"/>
              </a:rPr>
              <a:t>You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834640"/>
            <a:ext cx="283464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Arial"/>
              </a:rPr>
              <a:t>Every role is a drop-down of your own columns. Change any of them; the figure follows. Choose the test; the panel runs and documents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011680"/>
            <a:ext cx="3200400" cy="40233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19456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D4E89"/>
                </a:solidFill>
                <a:latin typeface="Arial"/>
              </a:rPr>
              <a:t>It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834640"/>
            <a:ext cx="283464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111111"/>
                </a:solidFill>
                <a:latin typeface="Arial"/>
              </a:rPr>
              <a:t>PlotSpec for the specification, StatsSpec for the test, Figure Package for specification plus frozen data. Nothing hidden, nothing recomputed behind your 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F2937"/>
                </a:solidFill>
                <a:latin typeface="Arial"/>
              </a:rPr>
              <a:t>“The data do not belong to one plot.”  The same table can become a box plot, a scatter with regression and a bar plot in a minute - the user decides which question to visualise.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Demo 1 - a table with unhelpful column names</a:t>
            </a:r>
          </a:p>
        </p:txBody>
      </p:sp>
      <p:pic>
        <p:nvPicPr>
          <p:cNvPr id="3" name="Picture 2" descr="01_ope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35331"/>
            <a:ext cx="6583680" cy="3918857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7223760" y="1920240"/>
            <a:ext cx="3474720" cy="5486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Open ambiguous_columns.csv (27 rows, 6 columns)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Detected types listed under the table; id_value is typed as text because it looks like an identifier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Recommended figures: box / violin (72 %), ridge (62 %), bar (60 %)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Nothing is drawn until a plot type is chosen</a:t>
            </a:r>
          </a:p>
        </p:txBody>
      </p:sp>
      <p:pic>
        <p:nvPicPr>
          <p:cNvPr id="5" name="Picture 4" descr="02_mapping_propo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3263"/>
            <a:ext cx="4572000" cy="735074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690372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The proposal for a box plot: x = condition_code, y = measurement_2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Demo 1 - correct the mapping, then ask a different question</a:t>
            </a:r>
          </a:p>
        </p:txBody>
      </p:sp>
      <p:pic>
        <p:nvPicPr>
          <p:cNvPr id="3" name="Picture 2" descr="03b_plot_after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78" y="1828800"/>
            <a:ext cx="4831644" cy="329184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y changed to score_final - the figure follows, nothing else changes</a:t>
            </a:r>
          </a:p>
        </p:txBody>
      </p:sp>
      <p:pic>
        <p:nvPicPr>
          <p:cNvPr id="5" name="Picture 4" descr="04_scatter_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429" y="1828800"/>
            <a:ext cx="4224901" cy="109728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pic>
        <p:nvPicPr>
          <p:cNvPr id="6" name="Picture 5" descr="06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438" y="3017520"/>
            <a:ext cx="3086883" cy="210312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669280" y="51206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Same file as a scatter: x = measurement_2, y = score_final, color = condition_code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0584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The row label is the role; the drop-down is your column - your headers, unchanged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Per-group regression lines with slope, R² and P appear because a colour role was set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Three figures from one table in the tutorial: box, scatter, bar with SEM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Demo 2 - differential results with names the detector does not know</a:t>
            </a:r>
          </a:p>
        </p:txBody>
      </p:sp>
      <p:pic>
        <p:nvPicPr>
          <p:cNvPr id="3" name="Picture 2" descr="volcano_manual_mapping_04b_window_befor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0774"/>
            <a:ext cx="5029200" cy="2993571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48463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effect_measure, p_raw, name: every role (none), Messages names the missing roles</a:t>
            </a:r>
          </a:p>
        </p:txBody>
      </p:sp>
      <p:pic>
        <p:nvPicPr>
          <p:cNvPr id="5" name="Picture 4" descr="05b_plot_after_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40774"/>
            <a:ext cx="5029200" cy="2993571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69280" y="48463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After assigning x, p, label and id_col by hand: the volcano renders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0058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With DESeq2 names (log2FoldChange, pvalue, gene_symbol) the same roles fill themselves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P values are read from the table - the application never recomputes differential statistics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Cut-offs, colours by class and the number of labelled genes are options; the header counts Up / Down / 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Statistics on the figure - chosen by you, documented by the application</a:t>
            </a:r>
          </a:p>
        </p:txBody>
      </p:sp>
      <p:pic>
        <p:nvPicPr>
          <p:cNvPr id="3" name="Picture 2" descr="05b_plot_with_bra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67512"/>
            <a:ext cx="5120640" cy="3488735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pic>
        <p:nvPicPr>
          <p:cNvPr id="4" name="Picture 3" descr="05_statis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7034" y="1828800"/>
            <a:ext cx="3605132" cy="539496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512064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Welch's t-test, all pairs, Holm-Bonferroni, exact P on brackets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Table: test, p, adjusted p, Hedges' g, n per comparison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Method sentence with library versions, ready for the manuscript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Suggested test printed from the design; the choice is the researcher's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Figure presets - the style travels, the data stay</a:t>
            </a:r>
          </a:p>
        </p:txBody>
      </p:sp>
      <p:pic>
        <p:nvPicPr>
          <p:cNvPr id="3" name="Picture 2" descr="01_refined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0774"/>
            <a:ext cx="5029200" cy="2993571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48463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Dataset 1, refined: violin, larger points, single-column width, y label - saved as a style preset</a:t>
            </a:r>
          </a:p>
        </p:txBody>
      </p:sp>
      <p:pic>
        <p:nvPicPr>
          <p:cNvPr id="5" name="Picture 4" descr="05_second_dataset_pr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40774"/>
            <a:ext cx="5029200" cy="2993571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69280" y="48463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Dataset 2 after Apply: “Applied preset: 9 setting(s)” - groups and values are its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0058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Figure style only: fonts, colours, layout, legend, export - portable to any table of the plot type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Full figure configuration: also roles, thresholds and statistics settings - asks for remapping on new data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Neither kind contains data: checked in the validated run (no value, group name or identifier in the file)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Reproducibility - PlotSpec versus Figure Package</a:t>
            </a:r>
          </a:p>
        </p:txBody>
      </p:sp>
      <p:pic>
        <p:nvPicPr>
          <p:cNvPr id="3" name="Picture 2" descr="03_package_confi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33042"/>
            <a:ext cx="3291840" cy="2534716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What the package will contain - and a privacy reminder</a:t>
            </a:r>
          </a:p>
        </p:txBody>
      </p:sp>
      <p:pic>
        <p:nvPicPr>
          <p:cNvPr id="5" name="Picture 4" descr="05_reopened_from_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5578" y="1828800"/>
            <a:ext cx="6759244" cy="402336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3931920" y="5852160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Reopened from the moved package: integrity verified; data, mapping and brackets restored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0584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PlotSpec: specification with a digest of the source table; needs the data file to redraw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Figure Package: ZIP with manifest and SHA-256 per member, frozen table, original file, PlotSpec, StatsSpec, previews, environment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Figure Builder - panels with their own data</a:t>
            </a:r>
          </a:p>
        </p:txBody>
      </p:sp>
      <p:pic>
        <p:nvPicPr>
          <p:cNvPr id="3" name="Picture 2" descr="03_figure_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288" y="1828800"/>
            <a:ext cx="7603104" cy="457200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6583680"/>
            <a:ext cx="100584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Save any plot as a panel; import external panels; order sets the letters; width in mm; fonts applied to all panels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• Save figure (PNG, PDF, SVG) and Save Figure Package (every panel with its table) - a draft legend is generated to be rewritten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The tutorial system - built against the real application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2286000" cy="1005840"/>
          </a:xfrm>
          <a:prstGeom prst="roundRect">
            <a:avLst/>
          </a:prstGeom>
          <a:solidFill>
            <a:srgbClr val="F2F4F7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21031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F2937"/>
                </a:solidFill>
                <a:latin typeface="Arial"/>
              </a:rPr>
              <a:t>tutorial action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24028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54680" y="2011680"/>
            <a:ext cx="2286000" cy="1005840"/>
          </a:xfrm>
          <a:prstGeom prst="roundRect">
            <a:avLst/>
          </a:prstGeom>
          <a:solidFill>
            <a:srgbClr val="E3EBF5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2103120"/>
            <a:ext cx="21031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F2937"/>
                </a:solidFill>
                <a:latin typeface="Arial"/>
              </a:rPr>
              <a:t>driver operates the real MainWindow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24028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011680"/>
            <a:ext cx="2286000" cy="1005840"/>
          </a:xfrm>
          <a:prstGeom prst="roundRect">
            <a:avLst/>
          </a:prstGeom>
          <a:solidFill>
            <a:srgbClr val="F2F4F7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03120"/>
            <a:ext cx="21031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F2937"/>
                </a:solidFill>
                <a:latin typeface="Arial"/>
              </a:rPr>
              <a:t>screenshots (offscreen) or video (on screen)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24028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1D4E89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011680"/>
            <a:ext cx="2286000" cy="1005840"/>
          </a:xfrm>
          <a:prstGeom prst="roundRect">
            <a:avLst/>
          </a:prstGeom>
          <a:solidFill>
            <a:srgbClr val="E3EBF5"/>
          </a:solidFill>
          <a:ln>
            <a:solidFill>
              <a:srgbClr val="C8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03120"/>
            <a:ext cx="21031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F2937"/>
                </a:solidFill>
                <a:latin typeface="Arial"/>
              </a:rPr>
              <a:t>validation record PASS / FAIL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100584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No mock-ups: every screenshot is a grab of the production PySide6 widgets; every step is performed through the widgets a user would click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Same script, two modes: offscreen for deterministic screenshots (1680 x 1000, empty settings and presets), on screen for video recording - recording is separate (ffmpeg, OBS, OS recorder)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Inventory read from the live plot registry: 39 plot types, tutorial and video status per plot; a new plot type appears as MISSING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Facts recorded during the run (proposed roles, option names, messages) are what the written tutorial quotes - drift is caught by re-running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Sixteen simulated datasets with fixed seeds support all plots; one table deliberately has bad column names, one supports nine plots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• Gallery, manifest, HTML copy and validation report regenerated by script; videos link through placeholders until a platform is chosen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Pilot validation - every instruction executed against the application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920240"/>
          <a:ext cx="987552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280160"/>
                <a:gridCol w="292608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Tutorial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Figure Builder: a two-panel composite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8 checks, 3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Reproducibility: PlotSpec and Figure Package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9 checks, 7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Figure presets: style travels, data stays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8 checks, 6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Getting started with the desktop application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0 checks, 6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Box / violin plot with points and statistics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8 checks, 8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Clustered heatmap from a feature-by-sample matrix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5 checks, 6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Kaplan-Meier survival curve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6 checks, 7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Column mapping with ambiguous column names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7 checks, 11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Scatter plot with regression 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6 checks, 8 captures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Volcano plot: automatic detection and manual role mapping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7A3E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8 checks, 10 captures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27648"/>
            <a:ext cx="98755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66666"/>
                </a:solidFill>
                <a:latin typeface="Arial"/>
              </a:rPr>
              <a:t>Checks are the tutorial's own steps: dataset exists, plot type exists, each column role exists, the figure rendered, options exist, statistics ran, every export was written. Report: tutorial/audit/validation_report.md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39 plot types, one workflow</a:t>
            </a:r>
          </a:p>
        </p:txBody>
      </p:sp>
      <p:pic>
        <p:nvPicPr>
          <p:cNvPr id="3" name="Picture 2" descr="barplot_with_error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9534"/>
            <a:ext cx="1188720" cy="944372"/>
          </a:xfrm>
          <a:prstGeom prst="rect">
            <a:avLst/>
          </a:prstGeom>
        </p:spPr>
      </p:pic>
      <p:pic>
        <p:nvPicPr>
          <p:cNvPr id="4" name="Picture 3" descr="grouped_barplot_with_error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941720"/>
            <a:ext cx="1188720" cy="780000"/>
          </a:xfrm>
          <a:prstGeom prst="rect">
            <a:avLst/>
          </a:prstGeom>
        </p:spPr>
      </p:pic>
      <p:pic>
        <p:nvPicPr>
          <p:cNvPr id="5" name="Picture 4" descr="heatmap_clustered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1400" y="1783080"/>
            <a:ext cx="876367" cy="1097280"/>
          </a:xfrm>
          <a:prstGeom prst="rect">
            <a:avLst/>
          </a:prstGeom>
        </p:spPr>
      </p:pic>
      <p:pic>
        <p:nvPicPr>
          <p:cNvPr id="6" name="Picture 5" descr="volcano_p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7096" y="1865260"/>
            <a:ext cx="1188720" cy="932919"/>
          </a:xfrm>
          <a:prstGeom prst="rect">
            <a:avLst/>
          </a:prstGeom>
        </p:spPr>
      </p:pic>
      <p:pic>
        <p:nvPicPr>
          <p:cNvPr id="7" name="Picture 6" descr="scatterplot_with_regres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8968" y="1933514"/>
            <a:ext cx="1188720" cy="796412"/>
          </a:xfrm>
          <a:prstGeom prst="rect">
            <a:avLst/>
          </a:prstGeom>
        </p:spPr>
      </p:pic>
      <p:pic>
        <p:nvPicPr>
          <p:cNvPr id="8" name="Picture 7" descr="boxplot_or_violin_with_poin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1859534"/>
            <a:ext cx="1188720" cy="944372"/>
          </a:xfrm>
          <a:prstGeom prst="rect">
            <a:avLst/>
          </a:prstGeom>
        </p:spPr>
      </p:pic>
      <p:pic>
        <p:nvPicPr>
          <p:cNvPr id="9" name="Picture 8" descr="lineplot_timecourse_with_error_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712" y="1920621"/>
            <a:ext cx="1188720" cy="822198"/>
          </a:xfrm>
          <a:prstGeom prst="rect">
            <a:avLst/>
          </a:prstGeom>
        </p:spPr>
      </p:pic>
      <p:pic>
        <p:nvPicPr>
          <p:cNvPr id="10" name="Picture 9" descr="ridge_or_density_pl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4584" y="1798447"/>
            <a:ext cx="1188720" cy="1066546"/>
          </a:xfrm>
          <a:prstGeom prst="rect">
            <a:avLst/>
          </a:prstGeom>
        </p:spPr>
      </p:pic>
      <p:pic>
        <p:nvPicPr>
          <p:cNvPr id="11" name="Picture 10" descr="histogram_distribu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3173603"/>
            <a:ext cx="1188720" cy="657098"/>
          </a:xfrm>
          <a:prstGeom prst="rect">
            <a:avLst/>
          </a:prstGeom>
        </p:spPr>
      </p:pic>
      <p:pic>
        <p:nvPicPr>
          <p:cNvPr id="12" name="Picture 11" descr="enrichment_dotplo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73352" y="2962446"/>
            <a:ext cx="1188720" cy="1079412"/>
          </a:xfrm>
          <a:prstGeom prst="rect">
            <a:avLst/>
          </a:prstGeom>
        </p:spPr>
      </p:pic>
      <p:pic>
        <p:nvPicPr>
          <p:cNvPr id="13" name="Picture 12" descr="kaplan_meier_survival_curv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5224" y="3029966"/>
            <a:ext cx="1188720" cy="944372"/>
          </a:xfrm>
          <a:prstGeom prst="rect">
            <a:avLst/>
          </a:prstGeom>
        </p:spPr>
      </p:pic>
      <p:pic>
        <p:nvPicPr>
          <p:cNvPr id="14" name="Picture 13" descr="stacked_bar_compositi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7096" y="3091053"/>
            <a:ext cx="1188720" cy="822198"/>
          </a:xfrm>
          <a:prstGeom prst="rect">
            <a:avLst/>
          </a:prstGeom>
        </p:spPr>
      </p:pic>
      <p:pic>
        <p:nvPicPr>
          <p:cNvPr id="15" name="Picture 14" descr="waterfall_plo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8968" y="3151165"/>
            <a:ext cx="1188720" cy="701973"/>
          </a:xfrm>
          <a:prstGeom prst="rect">
            <a:avLst/>
          </a:prstGeom>
        </p:spPr>
      </p:pic>
      <p:pic>
        <p:nvPicPr>
          <p:cNvPr id="16" name="Picture 15" descr="pca_scatter_from_matrix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20840" y="2998597"/>
            <a:ext cx="1188720" cy="1007110"/>
          </a:xfrm>
          <a:prstGeom prst="rect">
            <a:avLst/>
          </a:prstGeom>
        </p:spPr>
      </p:pic>
      <p:pic>
        <p:nvPicPr>
          <p:cNvPr id="17" name="Picture 16" descr="oncoprint_mutation_heatma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82712" y="3089908"/>
            <a:ext cx="1188720" cy="824488"/>
          </a:xfrm>
          <a:prstGeom prst="rect">
            <a:avLst/>
          </a:prstGeom>
        </p:spPr>
      </p:pic>
      <p:pic>
        <p:nvPicPr>
          <p:cNvPr id="18" name="Picture 17" descr="lollipop_mutation_plo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44584" y="3261234"/>
            <a:ext cx="1188720" cy="481835"/>
          </a:xfrm>
          <a:prstGeom prst="rect">
            <a:avLst/>
          </a:prstGeom>
        </p:spPr>
      </p:pic>
      <p:pic>
        <p:nvPicPr>
          <p:cNvPr id="19" name="Picture 18" descr="roc_curv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6532" y="4123944"/>
            <a:ext cx="1118616" cy="1097280"/>
          </a:xfrm>
          <a:prstGeom prst="rect">
            <a:avLst/>
          </a:prstGeom>
        </p:spPr>
      </p:pic>
      <p:pic>
        <p:nvPicPr>
          <p:cNvPr id="20" name="Picture 19" descr="forest_plo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73352" y="4259188"/>
            <a:ext cx="1188720" cy="826791"/>
          </a:xfrm>
          <a:prstGeom prst="rect">
            <a:avLst/>
          </a:prstGeom>
        </p:spPr>
      </p:pic>
      <p:pic>
        <p:nvPicPr>
          <p:cNvPr id="21" name="Picture 20" descr="dot_strip_plot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935224" y="4248277"/>
            <a:ext cx="1188720" cy="848614"/>
          </a:xfrm>
          <a:prstGeom prst="rect">
            <a:avLst/>
          </a:prstGeom>
        </p:spPr>
      </p:pic>
      <p:pic>
        <p:nvPicPr>
          <p:cNvPr id="22" name="Picture 21" descr="beeswarm_plot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197096" y="4248277"/>
            <a:ext cx="1188720" cy="848614"/>
          </a:xfrm>
          <a:prstGeom prst="rect">
            <a:avLst/>
          </a:prstGeom>
        </p:spPr>
      </p:pic>
      <p:pic>
        <p:nvPicPr>
          <p:cNvPr id="23" name="Picture 22" descr="paired_slopegrap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58968" y="4169029"/>
            <a:ext cx="1188720" cy="1007110"/>
          </a:xfrm>
          <a:prstGeom prst="rect">
            <a:avLst/>
          </a:prstGeom>
        </p:spPr>
      </p:pic>
      <p:pic>
        <p:nvPicPr>
          <p:cNvPr id="24" name="Picture 23" descr="raincloud_plo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0840" y="4248277"/>
            <a:ext cx="1188720" cy="848614"/>
          </a:xfrm>
          <a:prstGeom prst="rect">
            <a:avLst/>
          </a:prstGeom>
        </p:spPr>
      </p:pic>
      <p:pic>
        <p:nvPicPr>
          <p:cNvPr id="25" name="Picture 24" descr="hierarchical_dendrogram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982712" y="4273042"/>
            <a:ext cx="1188720" cy="799084"/>
          </a:xfrm>
          <a:prstGeom prst="rect">
            <a:avLst/>
          </a:prstGeom>
        </p:spPr>
      </p:pic>
      <p:pic>
        <p:nvPicPr>
          <p:cNvPr id="26" name="Picture 25" descr="ma_plot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44584" y="4260237"/>
            <a:ext cx="1188720" cy="824694"/>
          </a:xfrm>
          <a:prstGeom prst="rect">
            <a:avLst/>
          </a:prstGeom>
        </p:spPr>
      </p:pic>
      <p:pic>
        <p:nvPicPr>
          <p:cNvPr id="27" name="Picture 26" descr="manhattan_plot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11480" y="5552440"/>
            <a:ext cx="1188720" cy="581152"/>
          </a:xfrm>
          <a:prstGeom prst="rect">
            <a:avLst/>
          </a:prstGeom>
        </p:spPr>
      </p:pic>
      <p:pic>
        <p:nvPicPr>
          <p:cNvPr id="28" name="Picture 27" descr="qq_plot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673352" y="5296535"/>
            <a:ext cx="1188720" cy="1092962"/>
          </a:xfrm>
          <a:prstGeom prst="rect">
            <a:avLst/>
          </a:prstGeom>
        </p:spPr>
      </p:pic>
      <p:pic>
        <p:nvPicPr>
          <p:cNvPr id="29" name="Picture 28" descr="bland_altman_plot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35224" y="5418709"/>
            <a:ext cx="1188720" cy="848614"/>
          </a:xfrm>
          <a:prstGeom prst="rect">
            <a:avLst/>
          </a:prstGeom>
        </p:spPr>
      </p:pic>
      <p:pic>
        <p:nvPicPr>
          <p:cNvPr id="30" name="Picture 29" descr="precision_recall_curv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232148" y="5294376"/>
            <a:ext cx="1118616" cy="1097280"/>
          </a:xfrm>
          <a:prstGeom prst="rect">
            <a:avLst/>
          </a:prstGeom>
        </p:spPr>
      </p:pic>
      <p:pic>
        <p:nvPicPr>
          <p:cNvPr id="31" name="Picture 30" descr="confusion_matrix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503164" y="5294376"/>
            <a:ext cx="1100328" cy="1097280"/>
          </a:xfrm>
          <a:prstGeom prst="rect">
            <a:avLst/>
          </a:prstGeom>
        </p:spPr>
      </p:pic>
      <p:pic>
        <p:nvPicPr>
          <p:cNvPr id="32" name="Picture 31" descr="calibration_plot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754126" y="5294376"/>
            <a:ext cx="1122147" cy="1097280"/>
          </a:xfrm>
          <a:prstGeom prst="rect">
            <a:avLst/>
          </a:prstGeom>
        </p:spPr>
      </p:pic>
      <p:pic>
        <p:nvPicPr>
          <p:cNvPr id="33" name="Picture 32" descr="dose_response_curv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982712" y="5424521"/>
            <a:ext cx="1188720" cy="836989"/>
          </a:xfrm>
          <a:prstGeom prst="rect">
            <a:avLst/>
          </a:prstGeom>
        </p:spPr>
      </p:pic>
      <p:pic>
        <p:nvPicPr>
          <p:cNvPr id="34" name="Picture 33" descr="upset_plot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244584" y="5332836"/>
            <a:ext cx="1188720" cy="1020360"/>
          </a:xfrm>
          <a:prstGeom prst="rect">
            <a:avLst/>
          </a:prstGeom>
        </p:spPr>
      </p:pic>
      <p:pic>
        <p:nvPicPr>
          <p:cNvPr id="35" name="Picture 34" descr="swimmer_plot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2917" y="6464808"/>
            <a:ext cx="1045845" cy="1097280"/>
          </a:xfrm>
          <a:prstGeom prst="rect">
            <a:avLst/>
          </a:prstGeom>
        </p:spPr>
      </p:pic>
      <p:pic>
        <p:nvPicPr>
          <p:cNvPr id="36" name="Picture 35" descr="spider_plot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673352" y="6646684"/>
            <a:ext cx="1188720" cy="733527"/>
          </a:xfrm>
          <a:prstGeom prst="rect">
            <a:avLst/>
          </a:prstGeom>
        </p:spPr>
      </p:pic>
      <p:pic>
        <p:nvPicPr>
          <p:cNvPr id="37" name="Picture 36" descr="sankey_plot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935224" y="6632555"/>
            <a:ext cx="1188720" cy="761785"/>
          </a:xfrm>
          <a:prstGeom prst="rect">
            <a:avLst/>
          </a:prstGeom>
        </p:spPr>
      </p:pic>
      <p:pic>
        <p:nvPicPr>
          <p:cNvPr id="38" name="Picture 37" descr="embedding_scatter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197096" y="6680606"/>
            <a:ext cx="1188720" cy="665683"/>
          </a:xfrm>
          <a:prstGeom prst="rect">
            <a:avLst/>
          </a:prstGeom>
        </p:spPr>
      </p:pic>
      <p:pic>
        <p:nvPicPr>
          <p:cNvPr id="39" name="Picture 38" descr="hierarchical_clustering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629486" y="6464808"/>
            <a:ext cx="847684" cy="1097280"/>
          </a:xfrm>
          <a:prstGeom prst="rect">
            <a:avLst/>
          </a:prstGeom>
        </p:spPr>
      </p:pic>
      <p:pic>
        <p:nvPicPr>
          <p:cNvPr id="40" name="Picture 39" descr="network_graph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720840" y="6518148"/>
            <a:ext cx="1188720" cy="990600"/>
          </a:xfrm>
          <a:prstGeom prst="rect">
            <a:avLst/>
          </a:prstGeom>
        </p:spPr>
      </p:pic>
      <p:pic>
        <p:nvPicPr>
          <p:cNvPr id="41" name="Picture 40" descr="chord_diagram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83430" y="6464808"/>
            <a:ext cx="987283" cy="10972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7200" y="76809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66666"/>
                </a:solidFill>
                <a:latin typeface="Arial"/>
              </a:rPr>
              <a:t>Every thumbnail is a real render of the bundled synthetic example with the application's own renderer (tutorial/PLOT_GALLERY.md)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Where this goes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058400" cy="5943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• Pilot delivered for review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– nine tutorials, getting started, mapping master tutorial, gallery, video scripts, automation, validation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• After review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– tutorials for the remaining plot types, generated with the same template and validated the same way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– matrix workflow tutorial and video: expression matrix, metadata, preprocessing you confirm, PCA, heatmap, differential summary, volcano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– master video (8-12 min) and 1-4 min plot videos recorded from the on-screen runs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• Maintenance loop</a:t>
            </a:r>
          </a:p>
          <a:p>
            <a:pPr lvl="1">
              <a:lnSpc>
                <a:spcPct val="108000"/>
              </a:lnSpc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– new plot type appears as MISSING in the inventory; dataset, action script, tutorial, video script, gallery entry, validation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• Not yet: merged, tagged, released or published - author review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91640" y="384048"/>
            <a:ext cx="886968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F2937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0584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Open any table; the application detects, recommends and proposes - and you assign every role yourself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One table, many figures; one workflow for all plot types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Statistics run on the figure, with the table and the methods sentence a reviewer expects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Presets carry the look; PlotSpec carries the recipe; a Figure Package carries recipe and ingredients, verified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• The tutorial is generated from the real application and checked by running it, so it stays honest as the software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666666"/>
                </a:solidFill>
                <a:latin typeface="Arial"/>
              </a:rPr>
              <a:t>github.com/surPoudel/make-my-figure  -  tutorial/ in the repository (pilot branch, not yet published)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181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Arial"/>
              </a:rPr>
              <a:t>Make My Figure - desktop tutorial   | 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t_gold_1">
  <a:themeElements>
    <a:clrScheme name="lt_gold_1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t_gold_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lt_gold_1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t_gold_1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t_gold_1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6B3EE81B-071B-BD47-BF63-C2C10EEF03E9}" vid="{CA9738CC-98EB-774B-9E04-2634C5BDA4E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AED8885AE0D7479959AAF6DF60077D" ma:contentTypeVersion="1" ma:contentTypeDescription="Create a new document." ma:contentTypeScope="" ma:versionID="f120c2e67c1e744cbca71b9d56e752ff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ef2aa9ed40e72a78c3822fc753b43e87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D59172B2-50B2-4CFF-8E98-DBA4457AAD80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C54E24B-1673-4789-9D05-7F5BA2EBF9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5F4DE3E-C40F-4DAB-A3C5-FE9D33130F40}">
  <ds:schemaRefs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d7aa8578-7765-45c0-bacd-f8613a90fe91}" enabled="1" method="Privileged" siteId="{22340fa8-9226-4871-b677-d3b3e377af7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PPT_0006_A_16x9</Template>
  <TotalTime>0</TotalTime>
  <Words>5287</Words>
  <Application>Microsoft Office PowerPoint</Application>
  <PresentationFormat>Custom</PresentationFormat>
  <Paragraphs>693</Paragraphs>
  <Slides>37</Slides>
  <Notes>27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ＭＳ Ｐゴシック</vt:lpstr>
      <vt:lpstr>Aptos</vt:lpstr>
      <vt:lpstr>Aptos Display</vt:lpstr>
      <vt:lpstr>Aptos Narrow</vt:lpstr>
      <vt:lpstr>Arial</vt:lpstr>
      <vt:lpstr>Calibri</vt:lpstr>
      <vt:lpstr>Cambria Math</vt:lpstr>
      <vt:lpstr>Georgia</vt:lpstr>
      <vt:lpstr>system-ui</vt:lpstr>
      <vt:lpstr>-webkit-standard</vt:lpstr>
      <vt:lpstr>Wingdings</vt:lpstr>
      <vt:lpstr>lt_gold_1</vt:lpstr>
      <vt:lpstr> </vt:lpstr>
      <vt:lpstr>Overview</vt:lpstr>
      <vt:lpstr>Introduction to GBP</vt:lpstr>
      <vt:lpstr>Introduction to GBP</vt:lpstr>
      <vt:lpstr>Introduction to GBP</vt:lpstr>
      <vt:lpstr>Deletion of a prominent interferon-stimulated gene (ISG) reduces tumor volume significantly (MC38)</vt:lpstr>
      <vt:lpstr>Deletion of a prominent interferon-stimulated gene (ISG) causes complete tumor rejection (MC38)</vt:lpstr>
      <vt:lpstr>Beta-2-microgloblulin (B2M) KO in cancer cell did not change the phenotype</vt:lpstr>
      <vt:lpstr>The presence of tumor ISG gene in cancer cell (foreign) is not the reason for the observed phenotype</vt:lpstr>
      <vt:lpstr>PowerPoint Presentation</vt:lpstr>
      <vt:lpstr>TCGA data reveal inverse relationship between ISG expression and patient survival</vt:lpstr>
      <vt:lpstr>Anti-tumoral effect is immune mediated but T-cell extrinsic</vt:lpstr>
      <vt:lpstr>Location, location, location: the gene controls immune cell infiltration in tumors</vt:lpstr>
      <vt:lpstr>Comparison of measurement modalities and the “spatial” information they retain</vt:lpstr>
      <vt:lpstr>STAMP: Single-cell transcriptomics analysis and multimodal profiling through imaging</vt:lpstr>
      <vt:lpstr>PowerPoint Presentation</vt:lpstr>
      <vt:lpstr>STAMP data analysis approach</vt:lpstr>
      <vt:lpstr>UMAPs (Het and KO)</vt:lpstr>
      <vt:lpstr>How cluster dominance status was determined</vt:lpstr>
      <vt:lpstr>Teasing out the enrichment/dominance of cell population </vt:lpstr>
      <vt:lpstr>Consensus annotation workflow</vt:lpstr>
      <vt:lpstr>Celltype annotation finalized</vt:lpstr>
      <vt:lpstr>Distribution of cells across samples and groups</vt:lpstr>
      <vt:lpstr>High-plex imaging of RNA and proteins at subcellular resolution in fixed tissue by spatial molecular imaging</vt:lpstr>
      <vt:lpstr>What is CosMx Spatial Molecular Imager (SMI)?</vt:lpstr>
      <vt:lpstr>Advantage of STAMP and CosMx integration</vt:lpstr>
      <vt:lpstr>Projection of STAMP transcriptome to CosMx dataset</vt:lpstr>
      <vt:lpstr>PowerPoint Presentation</vt:lpstr>
      <vt:lpstr>Cooccurrence analysis</vt:lpstr>
      <vt:lpstr>More annotation work !!!</vt:lpstr>
      <vt:lpstr>Current annotations</vt:lpstr>
      <vt:lpstr>Inference table and final label</vt:lpstr>
      <vt:lpstr>Cell state composition, which cells are highly abundant?</vt:lpstr>
      <vt:lpstr>Neighborhood enrichment suggests genotype-specific spatial rewiring</vt:lpstr>
      <vt:lpstr>Who sits next to whom?</vt:lpstr>
      <vt:lpstr>Conclusion and next steps</vt:lpstr>
      <vt:lpstr>Acknowledgement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Here</dc:title>
  <dc:creator>Papini, Chiara</dc:creator>
  <cp:lastModifiedBy>Poudel, Suresh</cp:lastModifiedBy>
  <cp:revision>1</cp:revision>
  <cp:lastPrinted>2012-12-08T00:03:59Z</cp:lastPrinted>
  <dcterms:created xsi:type="dcterms:W3CDTF">2021-11-23T18:43:44Z</dcterms:created>
  <dcterms:modified xsi:type="dcterms:W3CDTF">2026-03-18T20:31:03Z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0x01010072AED8885AE0D7479959AAF6DF60077D</vt:lpwstr>
  </property>
  <property fmtid="{D5CDD505-2E9C-101B-9397-08002B2CF9AE}" pid="3" name="Document Format">
    <vt:lpwstr>Presentation</vt:lpwstr>
  </property>
</Properties>
</file>